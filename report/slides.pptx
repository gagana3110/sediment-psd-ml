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5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CFC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1737360"/>
            <a:ext cx="10515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15"/>
              </a:spcAft>
            </a:pPr>
            <a:r>
              <a:rPr sz="1300" b="1">
                <a:solidFill>
                  <a:srgbClr val="EB6834"/>
                </a:solidFill>
                <a:latin typeface="Segoe UI"/>
              </a:rPr>
              <a:t>UE24CS352A MACHINE LEARNING  ·  MINI-PROJECT 62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2194560"/>
            <a:ext cx="10241280" cy="1828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2200"/>
              </a:spcAft>
            </a:pPr>
            <a:r>
              <a:rPr sz="4000" b="1">
                <a:solidFill>
                  <a:srgbClr val="0B0B0B"/>
                </a:solidFill>
                <a:latin typeface="Segoe UI"/>
              </a:rPr>
              <a:t>Machine learning for predicting sediment particle size distributions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4480560"/>
            <a:ext cx="10515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80"/>
              </a:spcAft>
            </a:pPr>
            <a:r>
              <a:rPr sz="1600" b="0">
                <a:solidFill>
                  <a:srgbClr val="52514E"/>
                </a:solidFill>
                <a:latin typeface="Segoe UI"/>
              </a:rPr>
              <a:t>Team B-16   ·   Bandugula Sai Rithesh Reddy (PES1UG24AM064)   ·   Gagana C (PES1UG24AM099)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4937760"/>
            <a:ext cx="10515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15"/>
              </a:spcAft>
            </a:pPr>
            <a:r>
              <a:rPr sz="1300" b="0">
                <a:solidFill>
                  <a:srgbClr val="52514E"/>
                </a:solidFill>
                <a:latin typeface="Segoe UI"/>
              </a:rPr>
              <a:t>Reference: G. Egan, Stanford CS229, 2019   ·   Data: U.S. Geological Survey, doi:10.5066/P99Q4CHM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CFC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47472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5"/>
              </a:spcAft>
            </a:pPr>
            <a:r>
              <a:rPr sz="1100" b="1">
                <a:solidFill>
                  <a:srgbClr val="EB6834"/>
                </a:solidFill>
                <a:latin typeface="Segoe UI"/>
              </a:rPr>
              <a:t>THE PROBLEM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94360"/>
            <a:ext cx="1106424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485"/>
              </a:spcAft>
            </a:pPr>
            <a:r>
              <a:rPr sz="2700" b="1">
                <a:solidFill>
                  <a:srgbClr val="0B0B0B"/>
                </a:solidFill>
                <a:latin typeface="Segoe UI"/>
              </a:rPr>
              <a:t>Floc size controls how fast mud settles, and nobody can predict it well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47120" y="6355080"/>
            <a:ext cx="457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550"/>
              </a:spcAft>
            </a:pPr>
            <a:r>
              <a:rPr sz="1000" b="0">
                <a:solidFill>
                  <a:srgbClr val="52514E"/>
                </a:solidFill>
                <a:latin typeface="Segoe UI"/>
              </a:rPr>
              <a:t>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600200"/>
            <a:ext cx="6035040" cy="4572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80"/>
              </a:spcAft>
            </a:pPr>
            <a:r>
              <a:rPr sz="1600" b="1">
                <a:solidFill>
                  <a:srgbClr val="0B0B0B"/>
                </a:solidFill>
                <a:latin typeface="Segoe UI"/>
              </a:rPr>
              <a:t>•  What happens</a:t>
            </a:r>
            <a:r>
              <a:rPr sz="1600" b="0">
                <a:solidFill>
                  <a:srgbClr val="0B0B0B"/>
                </a:solidFill>
                <a:latin typeface="Segoe UI"/>
              </a:rPr>
              <a:t> Suspended mud particles stick together into flocs and break apart again within seconds to minutes.</a:t>
            </a:r>
          </a:p>
          <a:p>
            <a:pPr>
              <a:spcAft>
                <a:spcPts val="880"/>
              </a:spcAft>
            </a:pPr>
            <a:r>
              <a:rPr sz="1600" b="1">
                <a:solidFill>
                  <a:srgbClr val="0B0B0B"/>
                </a:solidFill>
                <a:latin typeface="Segoe UI"/>
              </a:rPr>
              <a:t>•  Why it matters</a:t>
            </a:r>
            <a:r>
              <a:rPr sz="1600" b="0">
                <a:solidFill>
                  <a:srgbClr val="0B0B0B"/>
                </a:solidFill>
                <a:latin typeface="Segoe UI"/>
              </a:rPr>
              <a:t> Particle size sets settling speed, the most uncertain input to models of erosion, contaminant transport and carbon burial.</a:t>
            </a:r>
          </a:p>
          <a:p>
            <a:pPr>
              <a:spcAft>
                <a:spcPts val="880"/>
              </a:spcAft>
            </a:pPr>
            <a:r>
              <a:rPr sz="1600" b="1">
                <a:solidFill>
                  <a:srgbClr val="0B0B0B"/>
                </a:solidFill>
                <a:latin typeface="Segoe UI"/>
              </a:rPr>
              <a:t>•  The gap</a:t>
            </a:r>
            <a:r>
              <a:rPr sz="1600" b="0">
                <a:solidFill>
                  <a:srgbClr val="0B0B0B"/>
                </a:solidFill>
                <a:latin typeface="Segoe UI"/>
              </a:rPr>
              <a:t> Physical flocculation models are tuned to each site; none predicts particle size in general.</a:t>
            </a:r>
          </a:p>
          <a:p>
            <a:pPr>
              <a:spcAft>
                <a:spcPts val="880"/>
              </a:spcAft>
            </a:pPr>
            <a:r>
              <a:rPr sz="1600" b="1">
                <a:solidFill>
                  <a:srgbClr val="0B0B0B"/>
                </a:solidFill>
                <a:latin typeface="Segoe UI"/>
              </a:rPr>
              <a:t>•  Our task</a:t>
            </a:r>
            <a:r>
              <a:rPr sz="1600" b="0">
                <a:solidFill>
                  <a:srgbClr val="0B0B0B"/>
                </a:solidFill>
                <a:latin typeface="Segoe UI"/>
              </a:rPr>
              <a:t> Regression: predict two summaries of the particle size distribution from routinely measured water properties.</a:t>
            </a:r>
          </a:p>
          <a:p>
            <a:pPr lvl="1">
              <a:spcAft>
                <a:spcPts val="880"/>
              </a:spcAft>
            </a:pPr>
            <a:r>
              <a:rPr sz="1400" b="0">
                <a:solidFill>
                  <a:srgbClr val="52514E"/>
                </a:solidFill>
                <a:latin typeface="Segoe UI"/>
              </a:rPr>
              <a:t>•  d50: the median particle diameter (µm)</a:t>
            </a:r>
          </a:p>
          <a:p>
            <a:pPr lvl="1">
              <a:spcAft>
                <a:spcPts val="880"/>
              </a:spcAft>
            </a:pPr>
            <a:r>
              <a:rPr sz="1400" b="0">
                <a:solidFill>
                  <a:srgbClr val="52514E"/>
                </a:solidFill>
                <a:latin typeface="Segoe UI"/>
              </a:rPr>
              <a:t>•  σ: the spread of the distribution (µm), the square root of the paper's variance</a:t>
            </a:r>
          </a:p>
          <a:p>
            <a:pPr>
              <a:spcAft>
                <a:spcPts val="880"/>
              </a:spcAft>
            </a:pPr>
            <a:r>
              <a:rPr sz="1600" b="1">
                <a:solidFill>
                  <a:srgbClr val="0B0B0B"/>
                </a:solidFill>
                <a:latin typeface="Segoe UI"/>
              </a:rPr>
              <a:t>•  Success measure</a:t>
            </a:r>
            <a:r>
              <a:rPr sz="1600" b="0">
                <a:solidFill>
                  <a:srgbClr val="0B0B0B"/>
                </a:solidFill>
                <a:latin typeface="Segoe UI"/>
              </a:rPr>
              <a:t> R² between predicted and measured values on held-out data.</a:t>
            </a:r>
          </a:p>
        </p:txBody>
      </p:sp>
      <p:pic>
        <p:nvPicPr>
          <p:cNvPr id="6" name="Picture 5" descr="fig1_example_ps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0" y="1828800"/>
            <a:ext cx="4846320" cy="3116729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CFC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47472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5"/>
              </a:spcAft>
            </a:pPr>
            <a:r>
              <a:rPr sz="1100" b="1">
                <a:solidFill>
                  <a:srgbClr val="EB6834"/>
                </a:solidFill>
                <a:latin typeface="Segoe UI"/>
              </a:rPr>
              <a:t>REFERENCE PAPER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94360"/>
            <a:ext cx="1106424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485"/>
              </a:spcAft>
            </a:pPr>
            <a:r>
              <a:rPr sz="2700" b="1">
                <a:solidFill>
                  <a:srgbClr val="0B0B0B"/>
                </a:solidFill>
                <a:latin typeface="Segoe UI"/>
              </a:rPr>
              <a:t>The reference paper reached R² of 0.75 to 0.81, and doubted its own generality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47120" y="6355080"/>
            <a:ext cx="457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550"/>
              </a:spcAft>
            </a:pPr>
            <a:r>
              <a:rPr sz="1000" b="0">
                <a:solidFill>
                  <a:srgbClr val="52514E"/>
                </a:solidFill>
                <a:latin typeface="Segoe UI"/>
              </a:rPr>
              <a:t>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600200"/>
            <a:ext cx="10972800" cy="4572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35"/>
              </a:spcAft>
            </a:pPr>
            <a:r>
              <a:rPr sz="1700" b="1">
                <a:solidFill>
                  <a:srgbClr val="0B0B0B"/>
                </a:solidFill>
                <a:latin typeface="Segoe UI"/>
              </a:rPr>
              <a:t>•  Data</a:t>
            </a:r>
            <a:r>
              <a:rPr sz="1700" b="0">
                <a:solidFill>
                  <a:srgbClr val="0B0B0B"/>
                </a:solidFill>
                <a:latin typeface="Segoe UI"/>
              </a:rPr>
              <a:t> 1,648 hourly samples from one instrument platform in South San Francisco Bay (2018–19). Not publicly available.</a:t>
            </a:r>
          </a:p>
          <a:p>
            <a:pPr>
              <a:spcAft>
                <a:spcPts val="935"/>
              </a:spcAft>
            </a:pPr>
            <a:r>
              <a:rPr sz="1700" b="1">
                <a:solidFill>
                  <a:srgbClr val="0B0B0B"/>
                </a:solidFill>
                <a:latin typeface="Segoe UI"/>
              </a:rPr>
              <a:t>•  Features</a:t>
            </a:r>
            <a:r>
              <a:rPr sz="1700" b="0">
                <a:solidFill>
                  <a:srgbClr val="0B0B0B"/>
                </a:solidFill>
                <a:latin typeface="Segoe UI"/>
              </a:rPr>
              <a:t> Salinity, wave velocity, tidal velocity, temperature, chlorophyll, refractive index and two light-absorption ratios.</a:t>
            </a:r>
          </a:p>
          <a:p>
            <a:pPr>
              <a:spcAft>
                <a:spcPts val="935"/>
              </a:spcAft>
            </a:pPr>
            <a:r>
              <a:rPr sz="1700" b="1">
                <a:solidFill>
                  <a:srgbClr val="0B0B0B"/>
                </a:solidFill>
                <a:latin typeface="Segoe UI"/>
              </a:rPr>
              <a:t>•  Method</a:t>
            </a:r>
            <a:r>
              <a:rPr sz="1700" b="0">
                <a:solidFill>
                  <a:srgbClr val="0B0B0B"/>
                </a:solidFill>
                <a:latin typeface="Segoe UI"/>
              </a:rPr>
              <a:t> Random Forest importance to pick the top four features, out-of-bag score to pick 32 trees, then SVR with a sweep over C and ε.</a:t>
            </a:r>
          </a:p>
          <a:p>
            <a:pPr>
              <a:spcAft>
                <a:spcPts val="935"/>
              </a:spcAft>
            </a:pPr>
            <a:r>
              <a:rPr sz="1700" b="1">
                <a:solidFill>
                  <a:srgbClr val="0B0B0B"/>
                </a:solidFill>
                <a:latin typeface="Segoe UI"/>
              </a:rPr>
              <a:t>•  Result</a:t>
            </a:r>
            <a:r>
              <a:rPr sz="1700" b="0">
                <a:solidFill>
                  <a:srgbClr val="0B0B0B"/>
                </a:solidFill>
                <a:latin typeface="Segoe UI"/>
              </a:rPr>
              <a:t> Random Forest R² = 0.81 (d50) and 0.75 (σ²); SVR 0.76 and 0.76. Salinity dominated.</a:t>
            </a:r>
          </a:p>
          <a:p>
            <a:pPr>
              <a:spcAft>
                <a:spcPts val="935"/>
              </a:spcAft>
            </a:pPr>
            <a:r>
              <a:rPr sz="1700" b="1">
                <a:solidFill>
                  <a:srgbClr val="0B0B0B"/>
                </a:solidFill>
                <a:latin typeface="Segoe UI"/>
              </a:rPr>
              <a:t>•  Its open question</a:t>
            </a:r>
            <a:r>
              <a:rPr sz="1700" b="0">
                <a:solidFill>
                  <a:srgbClr val="0B0B0B"/>
                </a:solidFill>
                <a:latin typeface="Segoe UI"/>
              </a:rPr>
              <a:t> “They could each be overfitting … rendering them less generalizable.” The models were only tested on a random split of one site's time series.</a:t>
            </a:r>
          </a:p>
          <a:p>
            <a:pPr>
              <a:spcAft>
                <a:spcPts val="935"/>
              </a:spcAft>
            </a:pPr>
            <a:r>
              <a:rPr sz="1700" b="1">
                <a:solidFill>
                  <a:srgbClr val="0B0B0B"/>
                </a:solidFill>
                <a:latin typeface="Segoe UI"/>
              </a:rPr>
              <a:t>•  Our plan</a:t>
            </a:r>
            <a:r>
              <a:rPr sz="1700" b="0">
                <a:solidFill>
                  <a:srgbClr val="0B0B0B"/>
                </a:solidFill>
                <a:latin typeface="Segoe UI"/>
              </a:rPr>
              <a:t> Reproduce the method on public data, then test exactly that open question.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CFC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47472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5"/>
              </a:spcAft>
            </a:pPr>
            <a:r>
              <a:rPr sz="1100" b="1">
                <a:solidFill>
                  <a:srgbClr val="EB6834"/>
                </a:solidFill>
                <a:latin typeface="Segoe UI"/>
              </a:rPr>
              <a:t>DATASET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94360"/>
            <a:ext cx="1106424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485"/>
              </a:spcAft>
            </a:pPr>
            <a:r>
              <a:rPr sz="2700" b="1">
                <a:solidFill>
                  <a:srgbClr val="0B0B0B"/>
                </a:solidFill>
                <a:latin typeface="Segoe UI"/>
              </a:rPr>
              <a:t>We used USGS casts from the same bay: two sites, four days, 193 files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47120" y="6355080"/>
            <a:ext cx="457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550"/>
              </a:spcAft>
            </a:pPr>
            <a:r>
              <a:rPr sz="1000" b="0">
                <a:solidFill>
                  <a:srgbClr val="52514E"/>
                </a:solidFill>
                <a:latin typeface="Segoe UI"/>
              </a:rPr>
              <a:t>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600200"/>
            <a:ext cx="10972800" cy="23774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80"/>
              </a:spcAft>
            </a:pPr>
            <a:r>
              <a:rPr sz="1600" b="1">
                <a:solidFill>
                  <a:srgbClr val="0B0B0B"/>
                </a:solidFill>
                <a:latin typeface="Segoe UI"/>
              </a:rPr>
              <a:t>•  Source</a:t>
            </a:r>
            <a:r>
              <a:rPr sz="1600" b="0">
                <a:solidFill>
                  <a:srgbClr val="0B0B0B"/>
                </a:solidFill>
                <a:latin typeface="Segoe UI"/>
              </a:rPr>
              <a:t> USGS data release, South San Francisco Bay, summer 2020 (doi:10.5066/P99Q4CHM). Same bay and instrument family as the paper.</a:t>
            </a:r>
          </a:p>
          <a:p>
            <a:pPr>
              <a:spcAft>
                <a:spcPts val="880"/>
              </a:spcAft>
            </a:pPr>
            <a:r>
              <a:rPr sz="1600" b="1">
                <a:solidFill>
                  <a:srgbClr val="0B0B0B"/>
                </a:solidFill>
                <a:latin typeface="Segoe UI"/>
              </a:rPr>
              <a:t>•  Design</a:t>
            </a:r>
            <a:r>
              <a:rPr sz="1600" b="0">
                <a:solidFill>
                  <a:srgbClr val="0B0B0B"/>
                </a:solidFill>
                <a:latin typeface="Segoe UI"/>
              </a:rPr>
              <a:t> Vertical casts at a channel site (11–14 m deep) and a shallows site (2–5 m), about one minute at each depth, on 21, 22, 24 and 28 July 2020.</a:t>
            </a:r>
          </a:p>
          <a:p>
            <a:pPr>
              <a:spcAft>
                <a:spcPts val="880"/>
              </a:spcAft>
            </a:pPr>
            <a:r>
              <a:rPr sz="1600" b="1">
                <a:solidFill>
                  <a:srgbClr val="0B0B0B"/>
                </a:solidFill>
                <a:latin typeface="Segoe UI"/>
              </a:rPr>
              <a:t>•  Contents</a:t>
            </a:r>
            <a:r>
              <a:rPr sz="1600" b="0">
                <a:solidFill>
                  <a:srgbClr val="0B0B0B"/>
                </a:solidFill>
                <a:latin typeface="Segoe UI"/>
              </a:rPr>
              <a:t> LISST: 36-class particle size spectrum, temperature, beam attenuation. CTD: salinity, turbidity, depth.</a:t>
            </a:r>
          </a:p>
          <a:p>
            <a:pPr>
              <a:spcAft>
                <a:spcPts val="880"/>
              </a:spcAft>
            </a:pPr>
            <a:r>
              <a:rPr sz="1600" b="1">
                <a:solidFill>
                  <a:srgbClr val="0B0B0B"/>
                </a:solidFill>
                <a:latin typeface="Segoe UI"/>
              </a:rPr>
              <a:t>•  Compared with the paper</a:t>
            </a:r>
            <a:r>
              <a:rPr sz="1600" b="0">
                <a:solidFill>
                  <a:srgbClr val="0B0B0B"/>
                </a:solidFill>
                <a:latin typeface="Segoe UI"/>
              </a:rPr>
              <a:t> We have salinity and temperature; no chlorophyll, refractive index or wave and tidal velocity.</a:t>
            </a:r>
          </a:p>
        </p:txBody>
      </p:sp>
      <p:pic>
        <p:nvPicPr>
          <p:cNvPr id="6" name="Picture 5" descr="fig2_data_overvie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50094" y="3703320"/>
            <a:ext cx="9661330" cy="283464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CFC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47472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5"/>
              </a:spcAft>
            </a:pPr>
            <a:r>
              <a:rPr sz="1100" b="1">
                <a:solidFill>
                  <a:srgbClr val="EB6834"/>
                </a:solidFill>
                <a:latin typeface="Segoe UI"/>
              </a:rPr>
              <a:t>DATA PREPARATION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94360"/>
            <a:ext cx="1106424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485"/>
              </a:spcAft>
            </a:pPr>
            <a:r>
              <a:rPr sz="2700" b="1">
                <a:solidFill>
                  <a:srgbClr val="0B0B0B"/>
                </a:solidFill>
                <a:latin typeface="Segoe UI"/>
              </a:rPr>
              <a:t>Cleaning turned 45,639 raw samples into 3,998 reliable bursts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47120" y="6355080"/>
            <a:ext cx="457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550"/>
              </a:spcAft>
            </a:pPr>
            <a:r>
              <a:rPr sz="1000" b="0">
                <a:solidFill>
                  <a:srgbClr val="52514E"/>
                </a:solidFill>
                <a:latin typeface="Segoe UI"/>
              </a:rPr>
              <a:t>5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48640" y="1645920"/>
          <a:ext cx="11064240" cy="230428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51760"/>
                <a:gridCol w="6949440"/>
                <a:gridCol w="1463040"/>
              </a:tblGrid>
              <a:tr h="384048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Segoe UI"/>
                        </a:rPr>
                        <a:t>Step</a:t>
                      </a:r>
                    </a:p>
                  </a:txBody>
                  <a:tcPr>
                    <a:solidFill>
                      <a:srgbClr val="1C5CA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Segoe UI"/>
                        </a:rPr>
                        <a:t>What it removes or does</a:t>
                      </a:r>
                    </a:p>
                  </a:txBody>
                  <a:tcPr>
                    <a:solidFill>
                      <a:srgbClr val="1C5CA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Segoe UI"/>
                        </a:rPr>
                        <a:t>Rows left</a:t>
                      </a:r>
                    </a:p>
                  </a:txBody>
                  <a:tcPr>
                    <a:solidFill>
                      <a:srgbClr val="1C5CAB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0B0B0B"/>
                          </a:solidFill>
                          <a:latin typeface="Segoe UI"/>
                        </a:rPr>
                        <a:t>Read 193 NetCDF files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0B0B0B"/>
                          </a:solidFill>
                          <a:latin typeface="Segoe UI"/>
                        </a:rPr>
                        <a:t>Decode the EPIC time format; drop one LISST file that duplicates another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0B0B0B"/>
                          </a:solidFill>
                          <a:latin typeface="Segoe UI"/>
                        </a:rPr>
                        <a:t>45,639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0B0B0B"/>
                          </a:solidFill>
                          <a:latin typeface="Segoe UI"/>
                        </a:rPr>
                        <a:t>Join CTD to LISST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0B0B0B"/>
                          </a:solidFill>
                          <a:latin typeface="Segoe UI"/>
                        </a:rPr>
                        <a:t>Correct the 3–7 s clock offset each day, then match second by second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0B0B0B"/>
                          </a:solidFill>
                          <a:latin typeface="Segoe UI"/>
                        </a:rPr>
                        <a:t>45,639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0B0B0B"/>
                          </a:solidFill>
                          <a:latin typeface="Segoe UI"/>
                        </a:rPr>
                        <a:t>Quality control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0B0B0B"/>
                          </a:solidFill>
                          <a:latin typeface="Segoe UI"/>
                        </a:rPr>
                        <a:t>In-air samples, optical transmission outside 30–98 %, readings with no CTD match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0B0B0B"/>
                          </a:solidFill>
                          <a:latin typeface="Segoe UI"/>
                        </a:rPr>
                        <a:t>33,108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0B0B0B"/>
                          </a:solidFill>
                          <a:latin typeface="Segoe UI"/>
                        </a:rPr>
                        <a:t>Burst averaging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0B0B0B"/>
                          </a:solidFill>
                          <a:latin typeface="Segoe UI"/>
                        </a:rPr>
                        <a:t>Average 10 s at a steady depth so one row is one stable measurement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0B0B0B"/>
                          </a:solidFill>
                          <a:latin typeface="Segoe UI"/>
                        </a:rPr>
                        <a:t>3,998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0B0B0B"/>
                          </a:solidFill>
                          <a:latin typeface="Segoe UI"/>
                        </a:rPr>
                        <a:t>Targets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0B0B0B"/>
                          </a:solidFill>
                          <a:latin typeface="Segoe UI"/>
                        </a:rPr>
                        <a:t>Recompute d50 and σ from each averaged spectrum (r = 0.98 against the file's d50)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0B0B0B"/>
                          </a:solidFill>
                          <a:latin typeface="Segoe UI"/>
                        </a:rPr>
                        <a:t>3,998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48640" y="4343400"/>
            <a:ext cx="11064240" cy="2103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80"/>
              </a:spcAft>
            </a:pPr>
            <a:r>
              <a:rPr sz="1600" b="1">
                <a:solidFill>
                  <a:srgbClr val="0B0B0B"/>
                </a:solidFill>
                <a:latin typeface="Segoe UI"/>
              </a:rPr>
              <a:t>•  Final table</a:t>
            </a:r>
            <a:r>
              <a:rPr sz="1600" b="0">
                <a:solidFill>
                  <a:srgbClr val="0B0B0B"/>
                </a:solidFill>
                <a:latin typeface="Segoe UI"/>
              </a:rPr>
              <a:t> 3,998 bursts from 92 casts (50 channel, 42 shallows).</a:t>
            </a:r>
          </a:p>
          <a:p>
            <a:pPr>
              <a:spcAft>
                <a:spcPts val="880"/>
              </a:spcAft>
            </a:pPr>
            <a:r>
              <a:rPr sz="1600" b="1">
                <a:solidFill>
                  <a:srgbClr val="0B0B0B"/>
                </a:solidFill>
                <a:latin typeface="Segoe UI"/>
              </a:rPr>
              <a:t>•  Features (9)</a:t>
            </a:r>
            <a:r>
              <a:rPr sz="1600" b="0">
                <a:solidFill>
                  <a:srgbClr val="0B0B0B"/>
                </a:solidFill>
                <a:latin typeface="Segoe UI"/>
              </a:rPr>
              <a:t> Sensor depth, height above bed, water depth (tide stage), tide rate, temperature, salinity, turbidity, beam attenuation, site.</a:t>
            </a:r>
          </a:p>
          <a:p>
            <a:pPr>
              <a:spcAft>
                <a:spcPts val="880"/>
              </a:spcAft>
            </a:pPr>
            <a:r>
              <a:rPr sz="1600" b="1">
                <a:solidFill>
                  <a:srgbClr val="0B0B0B"/>
                </a:solidFill>
                <a:latin typeface="Segoe UI"/>
              </a:rPr>
              <a:t>•  Left out on purpose</a:t>
            </a:r>
            <a:r>
              <a:rPr sz="1600" b="0">
                <a:solidFill>
                  <a:srgbClr val="0B0B0B"/>
                </a:solidFill>
                <a:latin typeface="Segoe UI"/>
              </a:rPr>
              <a:t> Total volume concentration, because it is computed from the size spectrum itself and would leak the answer.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CFC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47472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5"/>
              </a:spcAft>
            </a:pPr>
            <a:r>
              <a:rPr sz="1100" b="1">
                <a:solidFill>
                  <a:srgbClr val="EB6834"/>
                </a:solidFill>
                <a:latin typeface="Segoe UI"/>
              </a:rPr>
              <a:t>METHOD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94360"/>
            <a:ext cx="1106424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485"/>
              </a:spcAft>
            </a:pPr>
            <a:r>
              <a:rPr sz="2700" b="1">
                <a:solidFill>
                  <a:srgbClr val="0B0B0B"/>
                </a:solidFill>
                <a:latin typeface="Segoe UI"/>
              </a:rPr>
              <a:t>Five models, four test protocols of increasing difficulty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47120" y="6355080"/>
            <a:ext cx="457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550"/>
              </a:spcAft>
            </a:pPr>
            <a:r>
              <a:rPr sz="1000" b="0">
                <a:solidFill>
                  <a:srgbClr val="52514E"/>
                </a:solidFill>
                <a:latin typeface="Segoe UI"/>
              </a:rPr>
              <a:t>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600200"/>
            <a:ext cx="5120640" cy="4572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90"/>
              </a:spcAft>
            </a:pPr>
            <a:r>
              <a:rPr sz="1800" b="1">
                <a:solidFill>
                  <a:srgbClr val="0B0B0B"/>
                </a:solidFill>
                <a:latin typeface="Segoe UI"/>
              </a:rPr>
              <a:t>•  Models</a:t>
            </a:r>
          </a:p>
          <a:p>
            <a:pPr lvl="1">
              <a:spcAft>
                <a:spcPts val="990"/>
              </a:spcAft>
            </a:pPr>
            <a:r>
              <a:rPr sz="1600" b="1">
                <a:solidFill>
                  <a:srgbClr val="52514E"/>
                </a:solidFill>
                <a:latin typeface="Segoe UI"/>
              </a:rPr>
              <a:t>•  Random Forest and SVR, as in the paper</a:t>
            </a:r>
          </a:p>
          <a:p>
            <a:pPr lvl="1">
              <a:spcAft>
                <a:spcPts val="990"/>
              </a:spcAft>
            </a:pPr>
            <a:r>
              <a:rPr sz="1600" b="1">
                <a:solidFill>
                  <a:srgbClr val="52514E"/>
                </a:solidFill>
                <a:latin typeface="Segoe UI"/>
              </a:rPr>
              <a:t>•  Ridge regression as a linear baseline</a:t>
            </a:r>
          </a:p>
          <a:p>
            <a:pPr lvl="1">
              <a:spcAft>
                <a:spcPts val="990"/>
              </a:spcAft>
            </a:pPr>
            <a:r>
              <a:rPr sz="1600" b="1">
                <a:solidFill>
                  <a:srgbClr val="52514E"/>
                </a:solidFill>
                <a:latin typeface="Segoe UI"/>
              </a:rPr>
              <a:t>•  Gradient boosting</a:t>
            </a:r>
          </a:p>
          <a:p>
            <a:pPr lvl="1">
              <a:spcAft>
                <a:spcPts val="990"/>
              </a:spcAft>
            </a:pPr>
            <a:r>
              <a:rPr sz="1600" b="1">
                <a:solidFill>
                  <a:srgbClr val="52514E"/>
                </a:solidFill>
                <a:latin typeface="Segoe UI"/>
              </a:rPr>
              <a:t>•  Neural net with 10 hidden units (Sahin et al., 2017)</a:t>
            </a:r>
          </a:p>
          <a:p>
            <a:pPr>
              <a:spcAft>
                <a:spcPts val="990"/>
              </a:spcAft>
            </a:pPr>
            <a:r>
              <a:rPr sz="1800" b="1">
                <a:solidFill>
                  <a:srgbClr val="0B0B0B"/>
                </a:solidFill>
                <a:latin typeface="Segoe UI"/>
              </a:rPr>
              <a:t>•  Tuning, following the paper</a:t>
            </a:r>
          </a:p>
          <a:p>
            <a:pPr lvl="1">
              <a:spcAft>
                <a:spcPts val="990"/>
              </a:spcAft>
            </a:pPr>
            <a:r>
              <a:rPr sz="1600" b="1">
                <a:solidFill>
                  <a:srgbClr val="52514E"/>
                </a:solidFill>
                <a:latin typeface="Segoe UI"/>
              </a:rPr>
              <a:t>•  Forest size from the out-of-bag curve: 50 trees</a:t>
            </a:r>
          </a:p>
          <a:p>
            <a:pPr lvl="1">
              <a:spcAft>
                <a:spcPts val="990"/>
              </a:spcAft>
            </a:pPr>
            <a:r>
              <a:rPr sz="1600" b="1">
                <a:solidFill>
                  <a:srgbClr val="52514E"/>
                </a:solidFill>
                <a:latin typeface="Segoe UI"/>
              </a:rPr>
              <a:t>•  SVR sweep on validation casts: C = 0.5, ε = 0.25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943600" y="1737360"/>
          <a:ext cx="5669280" cy="1920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86000"/>
                <a:gridCol w="3383280"/>
              </a:tblGrid>
              <a:tr h="384048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Segoe UI"/>
                        </a:rPr>
                        <a:t>Test protocol</a:t>
                      </a:r>
                    </a:p>
                  </a:txBody>
                  <a:tcPr>
                    <a:solidFill>
                      <a:srgbClr val="1C5CA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Segoe UI"/>
                        </a:rPr>
                        <a:t>What the model has not seen</a:t>
                      </a:r>
                    </a:p>
                  </a:txBody>
                  <a:tcPr>
                    <a:solidFill>
                      <a:srgbClr val="1C5CAB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0B0B0B"/>
                          </a:solidFill>
                          <a:latin typeface="Segoe UI"/>
                        </a:rPr>
                        <a:t>1. Random 70/30 (paper)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0B0B0B"/>
                          </a:solidFill>
                          <a:latin typeface="Segoe UI"/>
                        </a:rPr>
                        <a:t>Individual bursts only; their neighbours are in training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0B0B0B"/>
                          </a:solidFill>
                          <a:latin typeface="Segoe UI"/>
                        </a:rPr>
                        <a:t>2. Unseen casts (5-fold)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0B0B0B"/>
                          </a:solidFill>
                          <a:latin typeface="Segoe UI"/>
                        </a:rPr>
                        <a:t>Whole casts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0B0B0B"/>
                          </a:solidFill>
                          <a:latin typeface="Segoe UI"/>
                        </a:rPr>
                        <a:t>3. Unseen day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0B0B0B"/>
                          </a:solidFill>
                          <a:latin typeface="Segoe UI"/>
                        </a:rPr>
                        <a:t>A whole day of sampling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0B0B0B"/>
                          </a:solidFill>
                          <a:latin typeface="Segoe UI"/>
                        </a:rPr>
                        <a:t>4. Unseen site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0B0B0B"/>
                          </a:solidFill>
                          <a:latin typeface="Segoe UI"/>
                        </a:rPr>
                        <a:t>The other site entirely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943600" y="4114800"/>
            <a:ext cx="5669280" cy="1463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25"/>
              </a:spcAft>
            </a:pPr>
            <a:r>
              <a:rPr sz="1500" b="0">
                <a:solidFill>
                  <a:srgbClr val="52514E"/>
                </a:solidFill>
                <a:latin typeface="Segoe UI"/>
              </a:rPr>
              <a:t>Bursts a few seconds apart are nearly identical, so a random split lets the model look up the answer from a neighbour. Protocols 2 to 4 remove that shortcut.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CFC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47472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5"/>
              </a:spcAft>
            </a:pPr>
            <a:r>
              <a:rPr sz="1100" b="1">
                <a:solidFill>
                  <a:srgbClr val="EB6834"/>
                </a:solidFill>
                <a:latin typeface="Segoe UI"/>
              </a:rPr>
              <a:t>FEATURE IMPORTANCE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94360"/>
            <a:ext cx="1106424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485"/>
              </a:spcAft>
            </a:pPr>
            <a:r>
              <a:rPr sz="2700" b="1">
                <a:solidFill>
                  <a:srgbClr val="0B0B0B"/>
                </a:solidFill>
                <a:latin typeface="Segoe UI"/>
              </a:rPr>
              <a:t>Depth, tide stage and attenuation carry the signal; salinity matters far less than in the paper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47120" y="6355080"/>
            <a:ext cx="457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550"/>
              </a:spcAft>
            </a:pPr>
            <a:r>
              <a:rPr sz="1000" b="0">
                <a:solidFill>
                  <a:srgbClr val="52514E"/>
                </a:solidFill>
                <a:latin typeface="Segoe UI"/>
              </a:rPr>
              <a:t>7</a:t>
            </a:r>
          </a:p>
        </p:txBody>
      </p:sp>
      <p:pic>
        <p:nvPicPr>
          <p:cNvPr id="5" name="Picture 4" descr="fig3_feature_importan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78913" y="1645920"/>
            <a:ext cx="7003693" cy="356616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48640" y="5349240"/>
            <a:ext cx="11064240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25"/>
              </a:spcAft>
            </a:pPr>
            <a:r>
              <a:rPr sz="1500" b="0">
                <a:solidFill>
                  <a:srgbClr val="0B0B0B"/>
                </a:solidFill>
                <a:latin typeface="Segoe UI"/>
              </a:rPr>
              <a:t>•  Sensor depth leads for d50 and water depth for σ. Salinity scores 8 % / 7 % (d50 / σ) against 72 % / 56 % in the paper: over our four days it only varied by about 2 psu.</a:t>
            </a:r>
          </a:p>
          <a:p>
            <a:pPr>
              <a:spcAft>
                <a:spcPts val="825"/>
              </a:spcAft>
            </a:pPr>
            <a:r>
              <a:rPr sz="1500" b="0">
                <a:solidFill>
                  <a:srgbClr val="0B0B0B"/>
                </a:solidFill>
                <a:latin typeface="Segoe UI"/>
              </a:rPr>
              <a:t>•  Permutation importance on unseen casts rates beam attenuation much higher than the paper's method does.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CFC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47472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5"/>
              </a:spcAft>
            </a:pPr>
            <a:r>
              <a:rPr sz="1100" b="1">
                <a:solidFill>
                  <a:srgbClr val="EB6834"/>
                </a:solidFill>
                <a:latin typeface="Segoe UI"/>
              </a:rPr>
              <a:t>TUNING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94360"/>
            <a:ext cx="1106424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485"/>
              </a:spcAft>
            </a:pPr>
            <a:r>
              <a:rPr sz="2700" b="1">
                <a:solidFill>
                  <a:srgbClr val="0B0B0B"/>
                </a:solidFill>
                <a:latin typeface="Segoe UI"/>
              </a:rPr>
              <a:t>Tuning: the out-of-bag score levels off by 50 trees; SVR prefers a small 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47120" y="6355080"/>
            <a:ext cx="457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550"/>
              </a:spcAft>
            </a:pPr>
            <a:r>
              <a:rPr sz="1000" b="0">
                <a:solidFill>
                  <a:srgbClr val="52514E"/>
                </a:solidFill>
                <a:latin typeface="Segoe UI"/>
              </a:rPr>
              <a:t>8</a:t>
            </a:r>
          </a:p>
        </p:txBody>
      </p:sp>
      <p:pic>
        <p:nvPicPr>
          <p:cNvPr id="5" name="Picture 4" descr="fig4_oob_tre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645920"/>
            <a:ext cx="4754880" cy="2978560"/>
          </a:xfrm>
          <a:prstGeom prst="rect">
            <a:avLst/>
          </a:prstGeom>
        </p:spPr>
      </p:pic>
      <p:pic>
        <p:nvPicPr>
          <p:cNvPr id="6" name="Picture 5" descr="fig5_svr_tuning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0" y="1645920"/>
            <a:ext cx="6492240" cy="2296396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48640" y="5120640"/>
            <a:ext cx="11064240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25"/>
              </a:spcAft>
            </a:pPr>
            <a:r>
              <a:rPr sz="1500" b="0">
                <a:solidFill>
                  <a:srgbClr val="0B0B0B"/>
                </a:solidFill>
                <a:latin typeface="Segoe UI"/>
              </a:rPr>
              <a:t>•  We keep the smallest forest within 0.01 of the best out-of-bag R² (50 trees; the paper chose 32).</a:t>
            </a:r>
          </a:p>
          <a:p>
            <a:pPr>
              <a:spcAft>
                <a:spcPts val="825"/>
              </a:spcAft>
            </a:pPr>
            <a:r>
              <a:rPr sz="1500" b="0">
                <a:solidFill>
                  <a:srgbClr val="0B0B0B"/>
                </a:solidFill>
                <a:latin typeface="Segoe UI"/>
              </a:rPr>
              <a:t>•  SVR is tuned on casts it never saw, which favours a smooth fit (small C). The paper's very large C (2048) fits a random split better but memorises more.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CFC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47472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5"/>
              </a:spcAft>
            </a:pPr>
            <a:r>
              <a:rPr sz="1100" b="1">
                <a:solidFill>
                  <a:srgbClr val="EB6834"/>
                </a:solidFill>
                <a:latin typeface="Segoe UI"/>
              </a:rPr>
              <a:t>RESULT 1: REPLICATION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94360"/>
            <a:ext cx="1106424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485"/>
              </a:spcAft>
            </a:pPr>
            <a:r>
              <a:rPr sz="2700" b="1">
                <a:solidFill>
                  <a:srgbClr val="0B0B0B"/>
                </a:solidFill>
                <a:latin typeface="Segoe UI"/>
              </a:rPr>
              <a:t>With the paper's random split we match its result: R² 0.86 and 0.82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47120" y="6355080"/>
            <a:ext cx="457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550"/>
              </a:spcAft>
            </a:pPr>
            <a:r>
              <a:rPr sz="1000" b="0">
                <a:solidFill>
                  <a:srgbClr val="52514E"/>
                </a:solidFill>
                <a:latin typeface="Segoe UI"/>
              </a:rPr>
              <a:t>9</a:t>
            </a:r>
          </a:p>
        </p:txBody>
      </p:sp>
      <p:pic>
        <p:nvPicPr>
          <p:cNvPr id="5" name="Picture 4" descr="fig6_pred_vs_true_rando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8953" y="1554480"/>
            <a:ext cx="4997213" cy="4937760"/>
          </a:xfrm>
          <a:prstGeom prst="rect">
            <a:avLst/>
          </a:prstGeom>
        </p:spPr>
      </p:pic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583680" y="1737360"/>
          <a:ext cx="5029200" cy="1920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34640"/>
                <a:gridCol w="1097280"/>
                <a:gridCol w="1097280"/>
              </a:tblGrid>
              <a:tr h="384048"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Segoe UI"/>
                        </a:rPr>
                        <a:t>Random 70/30 split</a:t>
                      </a:r>
                    </a:p>
                  </a:txBody>
                  <a:tcPr>
                    <a:solidFill>
                      <a:srgbClr val="1C5CA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Segoe UI"/>
                        </a:rPr>
                        <a:t>d50</a:t>
                      </a:r>
                    </a:p>
                  </a:txBody>
                  <a:tcPr>
                    <a:solidFill>
                      <a:srgbClr val="1C5CA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Segoe UI"/>
                        </a:rPr>
                        <a:t>σ</a:t>
                      </a:r>
                    </a:p>
                  </a:txBody>
                  <a:tcPr>
                    <a:solidFill>
                      <a:srgbClr val="1C5CAB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0B0B0B"/>
                          </a:solidFill>
                          <a:latin typeface="Segoe UI"/>
                        </a:rPr>
                        <a:t>Paper: Random Forest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0B0B0B"/>
                          </a:solidFill>
                          <a:latin typeface="Segoe UI"/>
                        </a:rPr>
                        <a:t>0.81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0B0B0B"/>
                          </a:solidFill>
                          <a:latin typeface="Segoe UI"/>
                        </a:rPr>
                        <a:t>0.75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0B0B0B"/>
                          </a:solidFill>
                          <a:latin typeface="Segoe UI"/>
                        </a:rPr>
                        <a:t>Ours: Random Forest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0B0B0B"/>
                          </a:solidFill>
                          <a:latin typeface="Segoe UI"/>
                        </a:rPr>
                        <a:t>0.86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0B0B0B"/>
                          </a:solidFill>
                          <a:latin typeface="Segoe UI"/>
                        </a:rPr>
                        <a:t>0.82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0B0B0B"/>
                          </a:solidFill>
                          <a:latin typeface="Segoe UI"/>
                        </a:rPr>
                        <a:t>Paper: SVR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0B0B0B"/>
                          </a:solidFill>
                          <a:latin typeface="Segoe UI"/>
                        </a:rPr>
                        <a:t>0.76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0B0B0B"/>
                          </a:solidFill>
                          <a:latin typeface="Segoe UI"/>
                        </a:rPr>
                        <a:t>0.76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0B0B0B"/>
                          </a:solidFill>
                          <a:latin typeface="Segoe UI"/>
                        </a:rPr>
                        <a:t>Ours: SVR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0B0B0B"/>
                          </a:solidFill>
                          <a:latin typeface="Segoe UI"/>
                        </a:rPr>
                        <a:t>0.69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0B0B0B"/>
                          </a:solidFill>
                          <a:latin typeface="Segoe UI"/>
                        </a:rPr>
                        <a:t>0.72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6583680" y="4023360"/>
            <a:ext cx="5029200" cy="23774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25"/>
              </a:spcAft>
            </a:pPr>
            <a:r>
              <a:rPr sz="1500" b="0">
                <a:solidFill>
                  <a:srgbClr val="0B0B0B"/>
                </a:solidFill>
                <a:latin typeface="Segoe UI"/>
              </a:rPr>
              <a:t>•  Different data and features, same headline accuracy for Random Forest.</a:t>
            </a:r>
          </a:p>
          <a:p>
            <a:pPr>
              <a:spcAft>
                <a:spcPts val="825"/>
              </a:spcAft>
            </a:pPr>
            <a:r>
              <a:rPr sz="1500" b="0">
                <a:solidFill>
                  <a:srgbClr val="0B0B0B"/>
                </a:solidFill>
                <a:latin typeface="Segoe UI"/>
              </a:rPr>
              <a:t>•  Our SVR is lower here because we tuned it for unseen casts, not for this split.</a:t>
            </a:r>
          </a:p>
          <a:p>
            <a:pPr>
              <a:spcAft>
                <a:spcPts val="825"/>
              </a:spcAft>
            </a:pPr>
            <a:r>
              <a:rPr sz="1500" b="0">
                <a:solidFill>
                  <a:srgbClr val="0B0B0B"/>
                </a:solidFill>
                <a:latin typeface="Segoe UI"/>
              </a:rPr>
              <a:t>•  Paper values for σ are for the variance σ².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CFC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47472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5"/>
              </a:spcAft>
            </a:pPr>
            <a:r>
              <a:rPr sz="1100" b="1">
                <a:solidFill>
                  <a:srgbClr val="EB6834"/>
                </a:solidFill>
                <a:latin typeface="Segoe UI"/>
              </a:rPr>
              <a:t>RESULT 2: GENERALISATION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94360"/>
            <a:ext cx="1106424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485"/>
              </a:spcAft>
            </a:pPr>
            <a:r>
              <a:rPr sz="2700" b="1">
                <a:solidFill>
                  <a:srgbClr val="0B0B0B"/>
                </a:solidFill>
                <a:latin typeface="Segoe UI"/>
              </a:rPr>
              <a:t>On data the model has not seen, accuracy drops by a third, then collapses across sites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47120" y="6355080"/>
            <a:ext cx="457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550"/>
              </a:spcAft>
            </a:pPr>
            <a:r>
              <a:rPr sz="1000" b="0">
                <a:solidFill>
                  <a:srgbClr val="52514E"/>
                </a:solidFill>
                <a:latin typeface="Segoe UI"/>
              </a:rPr>
              <a:t>10</a:t>
            </a:r>
          </a:p>
        </p:txBody>
      </p:sp>
      <p:pic>
        <p:nvPicPr>
          <p:cNvPr id="5" name="Picture 4" descr="fig8_protocol_comparis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554480"/>
            <a:ext cx="7589520" cy="493893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138160" y="1645920"/>
            <a:ext cx="3657600" cy="4846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70"/>
              </a:spcAft>
            </a:pPr>
            <a:r>
              <a:rPr sz="1400" b="1">
                <a:solidFill>
                  <a:srgbClr val="0B0B0B"/>
                </a:solidFill>
                <a:latin typeface="Segoe UI"/>
              </a:rPr>
              <a:t>•  Unseen casts</a:t>
            </a:r>
            <a:r>
              <a:rPr sz="1400" b="0">
                <a:solidFill>
                  <a:srgbClr val="0B0B0B"/>
                </a:solidFill>
                <a:latin typeface="Segoe UI"/>
              </a:rPr>
              <a:t> Random Forest drops from 0.86 to 0.56 for d50 and from 0.82 to 0.58 for σ.</a:t>
            </a:r>
          </a:p>
          <a:p>
            <a:pPr>
              <a:spcAft>
                <a:spcPts val="770"/>
              </a:spcAft>
            </a:pPr>
            <a:r>
              <a:rPr sz="1400" b="1">
                <a:solidFill>
                  <a:srgbClr val="0B0B0B"/>
                </a:solidFill>
                <a:latin typeface="Segoe UI"/>
              </a:rPr>
              <a:t>•  Best honest model</a:t>
            </a:r>
            <a:r>
              <a:rPr sz="1400" b="0">
                <a:solidFill>
                  <a:srgbClr val="0B0B0B"/>
                </a:solidFill>
                <a:latin typeface="Segoe UI"/>
              </a:rPr>
              <a:t> SVR: 0.60 / 0.62 on unseen casts, 0.46 / 0.53 on an unseen day.</a:t>
            </a:r>
          </a:p>
          <a:p>
            <a:pPr>
              <a:spcAft>
                <a:spcPts val="770"/>
              </a:spcAft>
            </a:pPr>
            <a:r>
              <a:rPr sz="1400" b="1">
                <a:solidFill>
                  <a:srgbClr val="0B0B0B"/>
                </a:solidFill>
                <a:latin typeface="Segoe UI"/>
              </a:rPr>
              <a:t>•  Ranking flips</a:t>
            </a:r>
            <a:r>
              <a:rPr sz="1400" b="0">
                <a:solidFill>
                  <a:srgbClr val="0B0B0B"/>
                </a:solidFill>
                <a:latin typeface="Segoe UI"/>
              </a:rPr>
              <a:t> The flexible tree models win the random split; the smoother SVR wins once neighbours are removed.</a:t>
            </a:r>
          </a:p>
          <a:p>
            <a:pPr>
              <a:spcAft>
                <a:spcPts val="770"/>
              </a:spcAft>
            </a:pPr>
            <a:r>
              <a:rPr sz="1400" b="1">
                <a:solidFill>
                  <a:srgbClr val="0B0B0B"/>
                </a:solidFill>
                <a:latin typeface="Segoe UI"/>
              </a:rPr>
              <a:t>•  Unseen site</a:t>
            </a:r>
            <a:r>
              <a:rPr sz="1400" b="0">
                <a:solidFill>
                  <a:srgbClr val="0B0B0B"/>
                </a:solidFill>
                <a:latin typeface="Segoe UI"/>
              </a:rPr>
              <a:t> Every model is worse than predicting the mean. The two sites barely overlap in water depth or particle size.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CFC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47472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5"/>
              </a:spcAft>
            </a:pPr>
            <a:r>
              <a:rPr sz="1100" b="1">
                <a:solidFill>
                  <a:srgbClr val="EB6834"/>
                </a:solidFill>
                <a:latin typeface="Segoe UI"/>
              </a:rPr>
              <a:t>CONCLUSIONS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94360"/>
            <a:ext cx="1106424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485"/>
              </a:spcAft>
            </a:pPr>
            <a:r>
              <a:rPr sz="2700" b="1">
                <a:solidFill>
                  <a:srgbClr val="0B0B0B"/>
                </a:solidFill>
                <a:latin typeface="Segoe UI"/>
              </a:rPr>
              <a:t>Conclusions: about 60 % of the variation is predictable; the split decides the score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47120" y="6355080"/>
            <a:ext cx="457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550"/>
              </a:spcAft>
            </a:pPr>
            <a:r>
              <a:rPr sz="1000" b="0">
                <a:solidFill>
                  <a:srgbClr val="52514E"/>
                </a:solidFill>
                <a:latin typeface="Segoe UI"/>
              </a:rPr>
              <a:t>11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600200"/>
            <a:ext cx="11064240" cy="4846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80"/>
              </a:spcAft>
            </a:pPr>
            <a:r>
              <a:rPr sz="1600" b="1">
                <a:solidFill>
                  <a:srgbClr val="0B0B0B"/>
                </a:solidFill>
                <a:latin typeface="Segoe UI"/>
              </a:rPr>
              <a:t>•  What works</a:t>
            </a:r>
            <a:r>
              <a:rPr sz="1600" b="0">
                <a:solidFill>
                  <a:srgbClr val="0B0B0B"/>
                </a:solidFill>
                <a:latin typeface="Segoe UI"/>
              </a:rPr>
              <a:t> Depth, tide stage, salinity, temperature and two optical measurements explain about 56–62 % of the variation in d50 and σ on new casts.</a:t>
            </a:r>
          </a:p>
          <a:p>
            <a:pPr>
              <a:spcAft>
                <a:spcPts val="880"/>
              </a:spcAft>
            </a:pPr>
            <a:r>
              <a:rPr sz="1600" b="1">
                <a:solidFill>
                  <a:srgbClr val="0B0B0B"/>
                </a:solidFill>
                <a:latin typeface="Segoe UI"/>
              </a:rPr>
              <a:t>•  What the paper's score hid</a:t>
            </a:r>
            <a:r>
              <a:rPr sz="1600" b="0">
                <a:solidFill>
                  <a:srgbClr val="0B0B0B"/>
                </a:solidFill>
                <a:latin typeface="Segoe UI"/>
              </a:rPr>
              <a:t> Its R² of 0.75 to 0.81 came from a random split of autocorrelated data. We reproduce it, then show it falls under grouped testing. Its overfitting concern was justified.</a:t>
            </a:r>
          </a:p>
          <a:p>
            <a:pPr>
              <a:spcAft>
                <a:spcPts val="880"/>
              </a:spcAft>
            </a:pPr>
            <a:r>
              <a:rPr sz="1600" b="1">
                <a:solidFill>
                  <a:srgbClr val="0B0B0B"/>
                </a:solidFill>
                <a:latin typeface="Segoe UI"/>
              </a:rPr>
              <a:t>•  What does not work</a:t>
            </a:r>
            <a:r>
              <a:rPr sz="1600" b="0">
                <a:solidFill>
                  <a:srgbClr val="0B0B0B"/>
                </a:solidFill>
                <a:latin typeface="Segoe UI"/>
              </a:rPr>
              <a:t> Transfer to a different site. A general model needs training data from many sites.</a:t>
            </a:r>
          </a:p>
          <a:p>
            <a:pPr>
              <a:spcAft>
                <a:spcPts val="880"/>
              </a:spcAft>
            </a:pPr>
            <a:r>
              <a:rPr sz="1600" b="1">
                <a:solidFill>
                  <a:srgbClr val="0B0B0B"/>
                </a:solidFill>
                <a:latin typeface="Segoe UI"/>
              </a:rPr>
              <a:t>•  Limitations</a:t>
            </a:r>
            <a:r>
              <a:rPr sz="1600" b="0">
                <a:solidFill>
                  <a:srgbClr val="0B0B0B"/>
                </a:solidFill>
                <a:latin typeface="Segoe UI"/>
              </a:rPr>
              <a:t> Three to keep in mind.</a:t>
            </a:r>
          </a:p>
          <a:p>
            <a:pPr lvl="1">
              <a:spcAft>
                <a:spcPts val="880"/>
              </a:spcAft>
            </a:pPr>
            <a:r>
              <a:rPr sz="1400" b="0">
                <a:solidFill>
                  <a:srgbClr val="52514E"/>
                </a:solidFill>
                <a:latin typeface="Segoe UI"/>
              </a:rPr>
              <a:t>•  Four days in one summer and two sites</a:t>
            </a:r>
          </a:p>
          <a:p>
            <a:pPr lvl="1">
              <a:spcAft>
                <a:spcPts val="880"/>
              </a:spcAft>
            </a:pPr>
            <a:r>
              <a:rPr sz="1400" b="0">
                <a:solidFill>
                  <a:srgbClr val="52514E"/>
                </a:solidFill>
                <a:latin typeface="Segoe UI"/>
              </a:rPr>
              <a:t>•  Salinity varied by only about 2 psu, so its effect is barely tested</a:t>
            </a:r>
          </a:p>
          <a:p>
            <a:pPr lvl="1">
              <a:spcAft>
                <a:spcPts val="880"/>
              </a:spcAft>
            </a:pPr>
            <a:r>
              <a:rPr sz="1400" b="0">
                <a:solidFill>
                  <a:srgbClr val="52514E"/>
                </a:solidFill>
                <a:latin typeface="Segoe UI"/>
              </a:rPr>
              <a:t>•  Beam attenuation comes from the same instrument as the targets</a:t>
            </a:r>
          </a:p>
          <a:p>
            <a:pPr>
              <a:spcAft>
                <a:spcPts val="880"/>
              </a:spcAft>
            </a:pPr>
            <a:r>
              <a:rPr sz="1600" b="1">
                <a:solidFill>
                  <a:srgbClr val="0B0B0B"/>
                </a:solidFill>
                <a:latin typeface="Segoe UI"/>
              </a:rPr>
              <a:t>•  Next steps</a:t>
            </a:r>
            <a:r>
              <a:rPr sz="1600" b="0">
                <a:solidFill>
                  <a:srgbClr val="0B0B0B"/>
                </a:solidFill>
                <a:latin typeface="Segoe UI"/>
              </a:rPr>
              <a:t> Add current and wave measurements from the release's hydrodynamic time series; train across more sites and seasons.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CFC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47472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5"/>
              </a:spcAft>
            </a:pPr>
            <a:r>
              <a:rPr sz="1100" b="1">
                <a:solidFill>
                  <a:srgbClr val="EB6834"/>
                </a:solidFill>
                <a:latin typeface="Segoe UI"/>
              </a:rPr>
              <a:t>DEMO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94360"/>
            <a:ext cx="1106424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485"/>
              </a:spcAft>
            </a:pPr>
            <a:r>
              <a:rPr sz="2700" b="1">
                <a:solidFill>
                  <a:srgbClr val="0B0B0B"/>
                </a:solidFill>
                <a:latin typeface="Segoe UI"/>
              </a:rPr>
              <a:t>Live demo and repository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47120" y="6355080"/>
            <a:ext cx="457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550"/>
              </a:spcAft>
            </a:pPr>
            <a:r>
              <a:rPr sz="1000" b="0">
                <a:solidFill>
                  <a:srgbClr val="52514E"/>
                </a:solidFill>
                <a:latin typeface="Segoe UI"/>
              </a:rPr>
              <a:t>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600200"/>
            <a:ext cx="6766560" cy="4572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35"/>
              </a:spcAft>
            </a:pPr>
            <a:r>
              <a:rPr sz="1700" b="1">
                <a:solidFill>
                  <a:srgbClr val="0B0B0B"/>
                </a:solidFill>
                <a:latin typeface="Segoe UI"/>
              </a:rPr>
              <a:t>•  Rebuild everything from the raw files</a:t>
            </a:r>
          </a:p>
          <a:p>
            <a:pPr lvl="1">
              <a:spcAft>
                <a:spcPts val="935"/>
              </a:spcAft>
            </a:pPr>
            <a:r>
              <a:rPr sz="1500" b="1">
                <a:solidFill>
                  <a:srgbClr val="52514E"/>
                </a:solidFill>
                <a:latin typeface="Segoe UI"/>
              </a:rPr>
              <a:t>•  python src/build_dataset.py</a:t>
            </a:r>
          </a:p>
          <a:p>
            <a:pPr lvl="1">
              <a:spcAft>
                <a:spcPts val="935"/>
              </a:spcAft>
            </a:pPr>
            <a:r>
              <a:rPr sz="1500" b="1">
                <a:solidFill>
                  <a:srgbClr val="52514E"/>
                </a:solidFill>
                <a:latin typeface="Segoe UI"/>
              </a:rPr>
              <a:t>•  python src/train_evaluate.py</a:t>
            </a:r>
          </a:p>
          <a:p>
            <a:pPr>
              <a:spcAft>
                <a:spcPts val="935"/>
              </a:spcAft>
            </a:pPr>
            <a:r>
              <a:rPr sz="1700" b="1">
                <a:solidFill>
                  <a:srgbClr val="0B0B0B"/>
                </a:solidFill>
                <a:latin typeface="Segoe UI"/>
              </a:rPr>
              <a:t>•  Hold out one cast, retrain, compare predicted and measured</a:t>
            </a:r>
          </a:p>
          <a:p>
            <a:pPr lvl="1">
              <a:spcAft>
                <a:spcPts val="935"/>
              </a:spcAft>
            </a:pPr>
            <a:r>
              <a:rPr sz="1500" b="1">
                <a:solidFill>
                  <a:srgbClr val="52514E"/>
                </a:solidFill>
                <a:latin typeface="Segoe UI"/>
              </a:rPr>
              <a:t>•  python demo.py</a:t>
            </a:r>
          </a:p>
          <a:p>
            <a:pPr lvl="1">
              <a:spcAft>
                <a:spcPts val="935"/>
              </a:spcAft>
            </a:pPr>
            <a:r>
              <a:rPr sz="1500" b="1">
                <a:solidFill>
                  <a:srgbClr val="52514E"/>
                </a:solidFill>
                <a:latin typeface="Segoe UI"/>
              </a:rPr>
              <a:t>•  python demo.py --cast C21</a:t>
            </a:r>
          </a:p>
          <a:p>
            <a:pPr>
              <a:spcAft>
                <a:spcPts val="935"/>
              </a:spcAft>
            </a:pPr>
            <a:r>
              <a:rPr sz="1700" b="1">
                <a:solidFill>
                  <a:srgbClr val="0B0B0B"/>
                </a:solidFill>
                <a:latin typeface="Segoe UI"/>
              </a:rPr>
              <a:t>•  Predict for conditions we type in</a:t>
            </a:r>
          </a:p>
          <a:p>
            <a:pPr lvl="1">
              <a:spcAft>
                <a:spcPts val="935"/>
              </a:spcAft>
            </a:pPr>
            <a:r>
              <a:rPr sz="1500" b="1">
                <a:solidFill>
                  <a:srgbClr val="52514E"/>
                </a:solidFill>
                <a:latin typeface="Segoe UI"/>
              </a:rPr>
              <a:t>•  python demo.py --predict --depth 6 --water-depth 12.5 --temp 21.5 --attn 20 --site channel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7589520" y="1737360"/>
          <a:ext cx="4114800" cy="268833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03120"/>
                <a:gridCol w="2011680"/>
              </a:tblGrid>
              <a:tr h="384048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Segoe UI"/>
                        </a:rPr>
                        <a:t>File</a:t>
                      </a:r>
                    </a:p>
                  </a:txBody>
                  <a:tcPr>
                    <a:solidFill>
                      <a:srgbClr val="1C5CA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Segoe UI"/>
                        </a:rPr>
                        <a:t>Role</a:t>
                      </a:r>
                    </a:p>
                  </a:txBody>
                  <a:tcPr>
                    <a:solidFill>
                      <a:srgbClr val="1C5CAB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B0B0B"/>
                          </a:solidFill>
                          <a:latin typeface="Segoe UI"/>
                        </a:rPr>
                        <a:t>src/build_dataset.py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B0B0B"/>
                          </a:solidFill>
                          <a:latin typeface="Segoe UI"/>
                        </a:rPr>
                        <a:t>NetCDF → clean table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B0B0B"/>
                          </a:solidFill>
                          <a:latin typeface="Segoe UI"/>
                        </a:rPr>
                        <a:t>src/psd.py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B0B0B"/>
                          </a:solidFill>
                          <a:latin typeface="Segoe UI"/>
                        </a:rPr>
                        <a:t>d50 and σ from a spectrum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B0B0B"/>
                          </a:solidFill>
                          <a:latin typeface="Segoe UI"/>
                        </a:rPr>
                        <a:t>src/train_evaluate.py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B0B0B"/>
                          </a:solidFill>
                          <a:latin typeface="Segoe UI"/>
                        </a:rPr>
                        <a:t>Models, tuning, protocols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B0B0B"/>
                          </a:solidFill>
                          <a:latin typeface="Segoe UI"/>
                        </a:rPr>
                        <a:t>src/plots.py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B0B0B"/>
                          </a:solidFill>
                          <a:latin typeface="Segoe UI"/>
                        </a:rPr>
                        <a:t>Figures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B0B0B"/>
                          </a:solidFill>
                          <a:latin typeface="Segoe UI"/>
                        </a:rPr>
                        <a:t>demo.py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B0B0B"/>
                          </a:solidFill>
                          <a:latin typeface="Segoe UI"/>
                        </a:rPr>
                        <a:t>Live demo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B0B0B"/>
                          </a:solidFill>
                          <a:latin typeface="Segoe UI"/>
                        </a:rPr>
                        <a:t>report/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B0B0B"/>
                          </a:solidFill>
                          <a:latin typeface="Segoe UI"/>
                        </a:rPr>
                        <a:t>Write-up and slides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