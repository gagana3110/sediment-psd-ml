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7373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15"/>
              </a:spcAft>
            </a:pPr>
            <a:r>
              <a:rPr sz="1300" b="1">
                <a:solidFill>
                  <a:srgbClr val="EB6834"/>
                </a:solidFill>
                <a:latin typeface="Segoe UI"/>
              </a:rPr>
              <a:t>UE24CS352A MACHINE LEARNING  ·  MINI-PROJECT 62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2412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200"/>
              </a:spcAft>
            </a:pPr>
            <a:r>
              <a:rPr sz="4000" b="1">
                <a:solidFill>
                  <a:srgbClr val="0B0B0B"/>
                </a:solidFill>
                <a:latin typeface="Segoe UI"/>
              </a:rPr>
              <a:t>Machine learning for predicting sediment particle size distributions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480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80"/>
              </a:spcAft>
            </a:pPr>
            <a:r>
              <a:rPr sz="1600" b="0">
                <a:solidFill>
                  <a:srgbClr val="52514E"/>
                </a:solidFill>
                <a:latin typeface="Segoe UI"/>
              </a:rPr>
              <a:t>Team B-16   ·   Bandugula Sai Rithesh Reddy (PES1UG24AM064)   ·   Gagana C (PES1UG24AM099)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9377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15"/>
              </a:spcAft>
            </a:pPr>
            <a:r>
              <a:rPr sz="1300" b="0">
                <a:solidFill>
                  <a:srgbClr val="52514E"/>
                </a:solidFill>
                <a:latin typeface="Segoe UI"/>
              </a:rPr>
              <a:t>Reference: G. Egan, Stanford CS229, 2019   ·   Data: U.S. Geological Survey, doi:10.5066/P99Q4CHM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5"/>
              </a:spcAft>
            </a:pPr>
            <a:r>
              <a:rPr sz="1100" b="1">
                <a:solidFill>
                  <a:srgbClr val="EB6834"/>
                </a:solidFill>
                <a:latin typeface="Segoe U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85"/>
              </a:spcAft>
            </a:pPr>
            <a:r>
              <a:rPr sz="2700" b="1">
                <a:solidFill>
                  <a:srgbClr val="0B0B0B"/>
                </a:solidFill>
                <a:latin typeface="Segoe UI"/>
              </a:rPr>
              <a:t>Floc size controls how fast mud settles, and nobody can predict it well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50"/>
              </a:spcAft>
            </a:pPr>
            <a:r>
              <a:rPr sz="1000" b="0">
                <a:solidFill>
                  <a:srgbClr val="52514E"/>
                </a:solidFill>
                <a:latin typeface="Segoe U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60350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80"/>
              </a:spcAft>
            </a:pPr>
            <a:r>
              <a:rPr sz="1600" b="1">
                <a:solidFill>
                  <a:srgbClr val="0B0B0B"/>
                </a:solidFill>
                <a:latin typeface="Segoe UI"/>
              </a:rPr>
              <a:t>•  What happens</a:t>
            </a:r>
            <a:r>
              <a:rPr sz="1600" b="0">
                <a:solidFill>
                  <a:srgbClr val="0B0B0B"/>
                </a:solidFill>
                <a:latin typeface="Segoe UI"/>
              </a:rPr>
              <a:t> Suspended mud particles stick together into flocs and break apart again within seconds to minutes.</a:t>
            </a:r>
          </a:p>
          <a:p>
            <a:pPr>
              <a:spcAft>
                <a:spcPts val="880"/>
              </a:spcAft>
            </a:pPr>
            <a:r>
              <a:rPr sz="1600" b="1">
                <a:solidFill>
                  <a:srgbClr val="0B0B0B"/>
                </a:solidFill>
                <a:latin typeface="Segoe UI"/>
              </a:rPr>
              <a:t>•  Why it matters</a:t>
            </a:r>
            <a:r>
              <a:rPr sz="1600" b="0">
                <a:solidFill>
                  <a:srgbClr val="0B0B0B"/>
                </a:solidFill>
                <a:latin typeface="Segoe UI"/>
              </a:rPr>
              <a:t> Particle size sets settling speed, the most uncertain input to models of erosion, contaminant transport and carbon burial.</a:t>
            </a:r>
          </a:p>
          <a:p>
            <a:pPr>
              <a:spcAft>
                <a:spcPts val="880"/>
              </a:spcAft>
            </a:pPr>
            <a:r>
              <a:rPr sz="1600" b="1">
                <a:solidFill>
                  <a:srgbClr val="0B0B0B"/>
                </a:solidFill>
                <a:latin typeface="Segoe UI"/>
              </a:rPr>
              <a:t>•  The gap</a:t>
            </a:r>
            <a:r>
              <a:rPr sz="1600" b="0">
                <a:solidFill>
                  <a:srgbClr val="0B0B0B"/>
                </a:solidFill>
                <a:latin typeface="Segoe UI"/>
              </a:rPr>
              <a:t> Physical flocculation models are tuned to each site; none predicts particle size in general.</a:t>
            </a:r>
          </a:p>
          <a:p>
            <a:pPr>
              <a:spcAft>
                <a:spcPts val="880"/>
              </a:spcAft>
            </a:pPr>
            <a:r>
              <a:rPr sz="1600" b="1">
                <a:solidFill>
                  <a:srgbClr val="0B0B0B"/>
                </a:solidFill>
                <a:latin typeface="Segoe UI"/>
              </a:rPr>
              <a:t>•  Our task</a:t>
            </a:r>
            <a:r>
              <a:rPr sz="1600" b="0">
                <a:solidFill>
                  <a:srgbClr val="0B0B0B"/>
                </a:solidFill>
                <a:latin typeface="Segoe UI"/>
              </a:rPr>
              <a:t> Regression: predict two summaries of the particle size distribution from routinely measured water properties.</a:t>
            </a:r>
          </a:p>
          <a:p>
            <a:pPr lvl="1">
              <a:spcAft>
                <a:spcPts val="88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•  d50: the median particle diameter (µm)</a:t>
            </a:r>
          </a:p>
          <a:p>
            <a:pPr lvl="1">
              <a:spcAft>
                <a:spcPts val="88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•  σ: the spread of the distribution (µm), the square root of the paper's variance</a:t>
            </a:r>
          </a:p>
          <a:p>
            <a:pPr>
              <a:spcAft>
                <a:spcPts val="880"/>
              </a:spcAft>
            </a:pPr>
            <a:r>
              <a:rPr sz="1600" b="1">
                <a:solidFill>
                  <a:srgbClr val="0B0B0B"/>
                </a:solidFill>
                <a:latin typeface="Segoe UI"/>
              </a:rPr>
              <a:t>•  Success measure</a:t>
            </a:r>
            <a:r>
              <a:rPr sz="1600" b="0">
                <a:solidFill>
                  <a:srgbClr val="0B0B0B"/>
                </a:solidFill>
                <a:latin typeface="Segoe UI"/>
              </a:rPr>
              <a:t> R² between predicted and measured values on held-out data.</a:t>
            </a:r>
          </a:p>
        </p:txBody>
      </p:sp>
      <p:pic>
        <p:nvPicPr>
          <p:cNvPr id="6" name="Picture 5" descr="fig1_example_ps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828800"/>
            <a:ext cx="4846320" cy="31167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5"/>
              </a:spcAft>
            </a:pPr>
            <a:r>
              <a:rPr sz="1100" b="1">
                <a:solidFill>
                  <a:srgbClr val="EB6834"/>
                </a:solidFill>
                <a:latin typeface="Segoe UI"/>
              </a:rPr>
              <a:t>REFERENCE 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85"/>
              </a:spcAft>
            </a:pPr>
            <a:r>
              <a:rPr sz="2700" b="1">
                <a:solidFill>
                  <a:srgbClr val="0B0B0B"/>
                </a:solidFill>
                <a:latin typeface="Segoe UI"/>
              </a:rPr>
              <a:t>The reference paper reached R² of 0.75 to 0.81, and doubted its own generality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50"/>
              </a:spcAft>
            </a:pPr>
            <a:r>
              <a:rPr sz="1000" b="0">
                <a:solidFill>
                  <a:srgbClr val="52514E"/>
                </a:solidFill>
                <a:latin typeface="Segoe U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09728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35"/>
              </a:spcAft>
            </a:pPr>
            <a:r>
              <a:rPr sz="1700" b="1">
                <a:solidFill>
                  <a:srgbClr val="0B0B0B"/>
                </a:solidFill>
                <a:latin typeface="Segoe UI"/>
              </a:rPr>
              <a:t>•  Data</a:t>
            </a:r>
            <a:r>
              <a:rPr sz="1700" b="0">
                <a:solidFill>
                  <a:srgbClr val="0B0B0B"/>
                </a:solidFill>
                <a:latin typeface="Segoe UI"/>
              </a:rPr>
              <a:t> 1,648 hourly samples from one instrument platform in South San Francisco Bay (2018–19). Not publicly available.</a:t>
            </a:r>
          </a:p>
          <a:p>
            <a:pPr>
              <a:spcAft>
                <a:spcPts val="935"/>
              </a:spcAft>
            </a:pPr>
            <a:r>
              <a:rPr sz="1700" b="1">
                <a:solidFill>
                  <a:srgbClr val="0B0B0B"/>
                </a:solidFill>
                <a:latin typeface="Segoe UI"/>
              </a:rPr>
              <a:t>•  Features</a:t>
            </a:r>
            <a:r>
              <a:rPr sz="1700" b="0">
                <a:solidFill>
                  <a:srgbClr val="0B0B0B"/>
                </a:solidFill>
                <a:latin typeface="Segoe UI"/>
              </a:rPr>
              <a:t> Salinity, wave velocity, tidal velocity, temperature, chlorophyll, refractive index and two light-absorption ratios.</a:t>
            </a:r>
          </a:p>
          <a:p>
            <a:pPr>
              <a:spcAft>
                <a:spcPts val="935"/>
              </a:spcAft>
            </a:pPr>
            <a:r>
              <a:rPr sz="1700" b="1">
                <a:solidFill>
                  <a:srgbClr val="0B0B0B"/>
                </a:solidFill>
                <a:latin typeface="Segoe UI"/>
              </a:rPr>
              <a:t>•  Method</a:t>
            </a:r>
            <a:r>
              <a:rPr sz="1700" b="0">
                <a:solidFill>
                  <a:srgbClr val="0B0B0B"/>
                </a:solidFill>
                <a:latin typeface="Segoe UI"/>
              </a:rPr>
              <a:t> Random Forest importance to pick the top four features, out-of-bag score to pick 32 trees, then SVR with a sweep over C and ε.</a:t>
            </a:r>
          </a:p>
          <a:p>
            <a:pPr>
              <a:spcAft>
                <a:spcPts val="935"/>
              </a:spcAft>
            </a:pPr>
            <a:r>
              <a:rPr sz="1700" b="1">
                <a:solidFill>
                  <a:srgbClr val="0B0B0B"/>
                </a:solidFill>
                <a:latin typeface="Segoe UI"/>
              </a:rPr>
              <a:t>•  Result</a:t>
            </a:r>
            <a:r>
              <a:rPr sz="1700" b="0">
                <a:solidFill>
                  <a:srgbClr val="0B0B0B"/>
                </a:solidFill>
                <a:latin typeface="Segoe UI"/>
              </a:rPr>
              <a:t> Random Forest R² = 0.81 (d50) and 0.75 (σ²); SVR 0.76 and 0.76. Salinity dominated.</a:t>
            </a:r>
          </a:p>
          <a:p>
            <a:pPr>
              <a:spcAft>
                <a:spcPts val="935"/>
              </a:spcAft>
            </a:pPr>
            <a:r>
              <a:rPr sz="1700" b="1">
                <a:solidFill>
                  <a:srgbClr val="0B0B0B"/>
                </a:solidFill>
                <a:latin typeface="Segoe UI"/>
              </a:rPr>
              <a:t>•  Its open question</a:t>
            </a:r>
            <a:r>
              <a:rPr sz="1700" b="0">
                <a:solidFill>
                  <a:srgbClr val="0B0B0B"/>
                </a:solidFill>
                <a:latin typeface="Segoe UI"/>
              </a:rPr>
              <a:t> “They could each be overfitting … rendering them less generalizable.” The models were only tested on a random split of one site's time series.</a:t>
            </a:r>
          </a:p>
          <a:p>
            <a:pPr>
              <a:spcAft>
                <a:spcPts val="935"/>
              </a:spcAft>
            </a:pPr>
            <a:r>
              <a:rPr sz="1700" b="1">
                <a:solidFill>
                  <a:srgbClr val="0B0B0B"/>
                </a:solidFill>
                <a:latin typeface="Segoe UI"/>
              </a:rPr>
              <a:t>•  Our plan</a:t>
            </a:r>
            <a:r>
              <a:rPr sz="1700" b="0">
                <a:solidFill>
                  <a:srgbClr val="0B0B0B"/>
                </a:solidFill>
                <a:latin typeface="Segoe UI"/>
              </a:rPr>
              <a:t> Reproduce the method on public data, then test exactly that open question.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5"/>
              </a:spcAft>
            </a:pPr>
            <a:r>
              <a:rPr sz="1100" b="1">
                <a:solidFill>
                  <a:srgbClr val="EB6834"/>
                </a:solidFill>
                <a:latin typeface="Segoe UI"/>
              </a:rP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85"/>
              </a:spcAft>
            </a:pPr>
            <a:r>
              <a:rPr sz="2700" b="1">
                <a:solidFill>
                  <a:srgbClr val="0B0B0B"/>
                </a:solidFill>
                <a:latin typeface="Segoe UI"/>
              </a:rPr>
              <a:t>We used USGS casts from the same bay: two sites, four days, 94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50"/>
              </a:spcAft>
            </a:pPr>
            <a:r>
              <a:rPr sz="1000" b="0">
                <a:solidFill>
                  <a:srgbClr val="52514E"/>
                </a:solidFill>
                <a:latin typeface="Segoe U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09728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80"/>
              </a:spcAft>
            </a:pPr>
            <a:r>
              <a:rPr sz="1600" b="1">
                <a:solidFill>
                  <a:srgbClr val="0B0B0B"/>
                </a:solidFill>
                <a:latin typeface="Segoe UI"/>
              </a:rPr>
              <a:t>•  Source</a:t>
            </a:r>
            <a:r>
              <a:rPr sz="1600" b="0">
                <a:solidFill>
                  <a:srgbClr val="0B0B0B"/>
                </a:solidFill>
                <a:latin typeface="Segoe UI"/>
              </a:rPr>
              <a:t> USGS data release, South San Francisco Bay, summer 2020 (doi:10.5066/P99Q4CHM). Same bay and instrument family as the paper.</a:t>
            </a:r>
          </a:p>
          <a:p>
            <a:pPr>
              <a:spcAft>
                <a:spcPts val="880"/>
              </a:spcAft>
            </a:pPr>
            <a:r>
              <a:rPr sz="1600" b="1">
                <a:solidFill>
                  <a:srgbClr val="0B0B0B"/>
                </a:solidFill>
                <a:latin typeface="Segoe UI"/>
              </a:rPr>
              <a:t>•  Design</a:t>
            </a:r>
            <a:r>
              <a:rPr sz="1600" b="0">
                <a:solidFill>
                  <a:srgbClr val="0B0B0B"/>
                </a:solidFill>
                <a:latin typeface="Segoe UI"/>
              </a:rPr>
              <a:t> Vertical casts at a channel site (11–14 m deep) and a shallows site (2–5 m), about one minute at each depth, on 21, 22, 24 and 28 July 2020.</a:t>
            </a:r>
          </a:p>
          <a:p>
            <a:pPr>
              <a:spcAft>
                <a:spcPts val="880"/>
              </a:spcAft>
            </a:pPr>
            <a:r>
              <a:rPr sz="1600" b="1">
                <a:solidFill>
                  <a:srgbClr val="0B0B0B"/>
                </a:solidFill>
                <a:latin typeface="Segoe UI"/>
              </a:rPr>
              <a:t>•  Contents</a:t>
            </a:r>
            <a:r>
              <a:rPr sz="1600" b="0">
                <a:solidFill>
                  <a:srgbClr val="0B0B0B"/>
                </a:solidFill>
                <a:latin typeface="Segoe UI"/>
              </a:rPr>
              <a:t> 36-class particle size spectrum, depth, temperature and beam attenuation, once per second.</a:t>
            </a:r>
          </a:p>
          <a:p>
            <a:pPr>
              <a:spcAft>
                <a:spcPts val="880"/>
              </a:spcAft>
            </a:pPr>
            <a:r>
              <a:rPr sz="1600" b="1">
                <a:solidFill>
                  <a:srgbClr val="0B0B0B"/>
                </a:solidFill>
                <a:latin typeface="Segoe UI"/>
              </a:rPr>
              <a:t>•  Missing</a:t>
            </a:r>
            <a:r>
              <a:rPr sz="1600" b="0">
                <a:solidFill>
                  <a:srgbClr val="0B0B0B"/>
                </a:solidFill>
                <a:latin typeface="Segoe UI"/>
              </a:rPr>
              <a:t> Salinity and turbidity (the CTD download links are dead); no chlorophyll or refractive index.</a:t>
            </a:r>
          </a:p>
        </p:txBody>
      </p:sp>
      <p:pic>
        <p:nvPicPr>
          <p:cNvPr id="6" name="Picture 5" descr="fig2_data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155" y="3703320"/>
            <a:ext cx="9653208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5"/>
              </a:spcAft>
            </a:pPr>
            <a:r>
              <a:rPr sz="1100" b="1">
                <a:solidFill>
                  <a:srgbClr val="EB6834"/>
                </a:solidFill>
                <a:latin typeface="Segoe UI"/>
              </a:rPr>
              <a:t>DATA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85"/>
              </a:spcAft>
            </a:pPr>
            <a:r>
              <a:rPr sz="2700" b="1">
                <a:solidFill>
                  <a:srgbClr val="0B0B0B"/>
                </a:solidFill>
                <a:latin typeface="Segoe UI"/>
              </a:rPr>
              <a:t>Cleaning turned 45,639 raw samples into 3,731 reliable bursts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50"/>
              </a:spcAft>
            </a:pPr>
            <a:r>
              <a:rPr sz="1000" b="0">
                <a:solidFill>
                  <a:srgbClr val="52514E"/>
                </a:solidFill>
                <a:latin typeface="Segoe UI"/>
              </a:rPr>
              <a:t>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37360"/>
          <a:ext cx="110642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6949440"/>
                <a:gridCol w="1463040"/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Step</a:t>
                      </a:r>
                    </a:p>
                  </a:txBody>
                  <a:tcPr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What it removes or does</a:t>
                      </a:r>
                    </a:p>
                  </a:txBody>
                  <a:tcPr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Rows left</a:t>
                      </a:r>
                    </a:p>
                  </a:txBody>
                  <a:tcPr>
                    <a:solidFill>
                      <a:srgbClr val="1C5CA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Segoe UI"/>
                        </a:rPr>
                        <a:t>Read 94 NetCDF files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Segoe UI"/>
                        </a:rPr>
                        <a:t>Decode the EPIC time format; drop one file that duplicates another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Segoe UI"/>
                        </a:rPr>
                        <a:t>45,639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Segoe UI"/>
                        </a:rPr>
                        <a:t>Quality control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Segoe UI"/>
                        </a:rPr>
                        <a:t>In-air samples, optical transmission outside 30–98 %, depths below the bed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Segoe UI"/>
                        </a:rPr>
                        <a:t>31,896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Segoe UI"/>
                        </a:rPr>
                        <a:t>Burst averaging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Segoe UI"/>
                        </a:rPr>
                        <a:t>Average 10 s at a steady depth so one row is one stable measurement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Segoe UI"/>
                        </a:rPr>
                        <a:t>3,731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Segoe UI"/>
                        </a:rPr>
                        <a:t>Targets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Segoe UI"/>
                        </a:rPr>
                        <a:t>Recompute d50 and σ from each averaged spectrum (r = 0.97 against the file's d50)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Segoe UI"/>
                        </a:rPr>
                        <a:t>3,731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206240"/>
            <a:ext cx="110642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80"/>
              </a:spcAft>
            </a:pPr>
            <a:r>
              <a:rPr sz="1600" b="1">
                <a:solidFill>
                  <a:srgbClr val="0B0B0B"/>
                </a:solidFill>
                <a:latin typeface="Segoe UI"/>
              </a:rPr>
              <a:t>•  Final table</a:t>
            </a:r>
            <a:r>
              <a:rPr sz="1600" b="0">
                <a:solidFill>
                  <a:srgbClr val="0B0B0B"/>
                </a:solidFill>
                <a:latin typeface="Segoe UI"/>
              </a:rPr>
              <a:t> 3,731 bursts from 89 casts (50 channel, 39 shallows).</a:t>
            </a:r>
          </a:p>
          <a:p>
            <a:pPr>
              <a:spcAft>
                <a:spcPts val="880"/>
              </a:spcAft>
            </a:pPr>
            <a:r>
              <a:rPr sz="1600" b="1">
                <a:solidFill>
                  <a:srgbClr val="0B0B0B"/>
                </a:solidFill>
                <a:latin typeface="Segoe UI"/>
              </a:rPr>
              <a:t>•  Features (7)</a:t>
            </a:r>
            <a:r>
              <a:rPr sz="1600" b="0">
                <a:solidFill>
                  <a:srgbClr val="0B0B0B"/>
                </a:solidFill>
                <a:latin typeface="Segoe UI"/>
              </a:rPr>
              <a:t> Sensor depth, height above bed, water depth (tide stage), tide rate, temperature, beam attenuation, site.</a:t>
            </a:r>
          </a:p>
          <a:p>
            <a:pPr>
              <a:spcAft>
                <a:spcPts val="880"/>
              </a:spcAft>
            </a:pPr>
            <a:r>
              <a:rPr sz="1600" b="1">
                <a:solidFill>
                  <a:srgbClr val="0B0B0B"/>
                </a:solidFill>
                <a:latin typeface="Segoe UI"/>
              </a:rPr>
              <a:t>•  Left out on purpose</a:t>
            </a:r>
            <a:r>
              <a:rPr sz="1600" b="0">
                <a:solidFill>
                  <a:srgbClr val="0B0B0B"/>
                </a:solidFill>
                <a:latin typeface="Segoe UI"/>
              </a:rPr>
              <a:t> Total volume concentration, because it is computed from the size spectrum itself and would leak the answer.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5"/>
              </a:spcAft>
            </a:pPr>
            <a:r>
              <a:rPr sz="1100" b="1">
                <a:solidFill>
                  <a:srgbClr val="EB6834"/>
                </a:solidFill>
                <a:latin typeface="Segoe UI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85"/>
              </a:spcAft>
            </a:pPr>
            <a:r>
              <a:rPr sz="2700" b="1">
                <a:solidFill>
                  <a:srgbClr val="0B0B0B"/>
                </a:solidFill>
                <a:latin typeface="Segoe UI"/>
              </a:rPr>
              <a:t>Five models, four test protocols of increasing difficulty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50"/>
              </a:spcAft>
            </a:pPr>
            <a:r>
              <a:rPr sz="1000" b="0">
                <a:solidFill>
                  <a:srgbClr val="52514E"/>
                </a:solidFill>
                <a:latin typeface="Segoe U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51206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90"/>
              </a:spcAft>
            </a:pPr>
            <a:r>
              <a:rPr sz="1800" b="1">
                <a:solidFill>
                  <a:srgbClr val="0B0B0B"/>
                </a:solidFill>
                <a:latin typeface="Segoe UI"/>
              </a:rPr>
              <a:t>•  Models</a:t>
            </a:r>
          </a:p>
          <a:p>
            <a:pPr lvl="1">
              <a:spcAft>
                <a:spcPts val="990"/>
              </a:spcAft>
            </a:pPr>
            <a:r>
              <a:rPr sz="1600" b="1">
                <a:solidFill>
                  <a:srgbClr val="52514E"/>
                </a:solidFill>
                <a:latin typeface="Segoe UI"/>
              </a:rPr>
              <a:t>•  Random Forest and SVR, as in the paper</a:t>
            </a:r>
          </a:p>
          <a:p>
            <a:pPr lvl="1">
              <a:spcAft>
                <a:spcPts val="990"/>
              </a:spcAft>
            </a:pPr>
            <a:r>
              <a:rPr sz="1600" b="1">
                <a:solidFill>
                  <a:srgbClr val="52514E"/>
                </a:solidFill>
                <a:latin typeface="Segoe UI"/>
              </a:rPr>
              <a:t>•  Ridge regression as a linear baseline</a:t>
            </a:r>
          </a:p>
          <a:p>
            <a:pPr lvl="1">
              <a:spcAft>
                <a:spcPts val="990"/>
              </a:spcAft>
            </a:pPr>
            <a:r>
              <a:rPr sz="1600" b="1">
                <a:solidFill>
                  <a:srgbClr val="52514E"/>
                </a:solidFill>
                <a:latin typeface="Segoe UI"/>
              </a:rPr>
              <a:t>•  Gradient boosting</a:t>
            </a:r>
          </a:p>
          <a:p>
            <a:pPr lvl="1">
              <a:spcAft>
                <a:spcPts val="990"/>
              </a:spcAft>
            </a:pPr>
            <a:r>
              <a:rPr sz="1600" b="1">
                <a:solidFill>
                  <a:srgbClr val="52514E"/>
                </a:solidFill>
                <a:latin typeface="Segoe UI"/>
              </a:rPr>
              <a:t>•  Neural net with 10 hidden units (Sahin et al., 2017)</a:t>
            </a:r>
          </a:p>
          <a:p>
            <a:pPr>
              <a:spcAft>
                <a:spcPts val="990"/>
              </a:spcAft>
            </a:pPr>
            <a:r>
              <a:rPr sz="1800" b="1">
                <a:solidFill>
                  <a:srgbClr val="0B0B0B"/>
                </a:solidFill>
                <a:latin typeface="Segoe UI"/>
              </a:rPr>
              <a:t>•  Tuning, following the paper</a:t>
            </a:r>
          </a:p>
          <a:p>
            <a:pPr lvl="1">
              <a:spcAft>
                <a:spcPts val="990"/>
              </a:spcAft>
            </a:pPr>
            <a:r>
              <a:rPr sz="1600" b="1">
                <a:solidFill>
                  <a:srgbClr val="52514E"/>
                </a:solidFill>
                <a:latin typeface="Segoe UI"/>
              </a:rPr>
              <a:t>•  Forest size from the out-of-bag curve: 50 trees</a:t>
            </a:r>
          </a:p>
          <a:p>
            <a:pPr lvl="1">
              <a:spcAft>
                <a:spcPts val="990"/>
              </a:spcAft>
            </a:pPr>
            <a:r>
              <a:rPr sz="1600" b="1">
                <a:solidFill>
                  <a:srgbClr val="52514E"/>
                </a:solidFill>
                <a:latin typeface="Segoe UI"/>
              </a:rPr>
              <a:t>•  SVR sweep on validation casts: C = 0.25, ε = 0.03125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0" y="1737360"/>
          <a:ext cx="56692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38328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Test protocol</a:t>
                      </a:r>
                    </a:p>
                  </a:txBody>
                  <a:tcPr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What the model has not seen</a:t>
                      </a:r>
                    </a:p>
                  </a:txBody>
                  <a:tcPr>
                    <a:solidFill>
                      <a:srgbClr val="1C5CA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1. Random 70/30 (paper)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Individual bursts only; their neighbours are in training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2. Unseen casts (5-fold)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Whole casts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3. Unseen day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A whole day of sampling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4. Unseen site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B0B0B"/>
                          </a:solidFill>
                          <a:latin typeface="Segoe UI"/>
                        </a:rPr>
                        <a:t>The other site entirely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0" y="4114800"/>
            <a:ext cx="56692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25"/>
              </a:spcAft>
            </a:pPr>
            <a:r>
              <a:rPr sz="1500" b="0">
                <a:solidFill>
                  <a:srgbClr val="52514E"/>
                </a:solidFill>
                <a:latin typeface="Segoe UI"/>
              </a:rPr>
              <a:t>Bursts a few seconds apart are nearly identical, so a random split lets the model look up the answer from a neighbour. Protocols 2 to 4 remove that shortcut.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5"/>
              </a:spcAft>
            </a:pPr>
            <a:r>
              <a:rPr sz="1100" b="1">
                <a:solidFill>
                  <a:srgbClr val="EB6834"/>
                </a:solidFill>
                <a:latin typeface="Segoe UI"/>
              </a:rPr>
              <a:t>FEATURE IMPORTANCE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85"/>
              </a:spcAft>
            </a:pPr>
            <a:r>
              <a:rPr sz="2700" b="1">
                <a:solidFill>
                  <a:srgbClr val="0B0B0B"/>
                </a:solidFill>
                <a:latin typeface="Segoe UI"/>
              </a:rPr>
              <a:t>Tide stage, depth and attenuation carry the signal; site adds almost nothing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50"/>
              </a:spcAft>
            </a:pPr>
            <a:r>
              <a:rPr sz="1000" b="0">
                <a:solidFill>
                  <a:srgbClr val="52514E"/>
                </a:solidFill>
                <a:latin typeface="Segoe UI"/>
              </a:rPr>
              <a:t>7</a:t>
            </a:r>
          </a:p>
        </p:txBody>
      </p:sp>
      <p:pic>
        <p:nvPicPr>
          <p:cNvPr id="5" name="Picture 4" descr="fig3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8487" y="1645920"/>
            <a:ext cx="8364545" cy="3566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349240"/>
            <a:ext cx="11064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25"/>
              </a:spcAft>
            </a:pPr>
            <a:r>
              <a:rPr sz="1500" b="0">
                <a:solidFill>
                  <a:srgbClr val="0B0B0B"/>
                </a:solidFill>
                <a:latin typeface="Segoe UI"/>
              </a:rPr>
              <a:t>•  Water depth (tide stage) leads for both targets (importance 31 % / 50 % for d50 / σ); salinity played this role in the paper.</a:t>
            </a:r>
          </a:p>
          <a:p>
            <a:pPr>
              <a:spcAft>
                <a:spcPts val="825"/>
              </a:spcAft>
            </a:pPr>
            <a:r>
              <a:rPr sz="1500" b="0">
                <a:solidFill>
                  <a:srgbClr val="0B0B0B"/>
                </a:solidFill>
                <a:latin typeface="Segoe UI"/>
              </a:rPr>
              <a:t>•  Both methods agree on the top four. Permutation importance on unseen casts rates beam attenuation higher and temperature lower than the paper's method does.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5"/>
              </a:spcAft>
            </a:pPr>
            <a:r>
              <a:rPr sz="1100" b="1">
                <a:solidFill>
                  <a:srgbClr val="EB6834"/>
                </a:solidFill>
                <a:latin typeface="Segoe UI"/>
              </a:rPr>
              <a:t>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85"/>
              </a:spcAft>
            </a:pPr>
            <a:r>
              <a:rPr sz="2700" b="1">
                <a:solidFill>
                  <a:srgbClr val="0B0B0B"/>
                </a:solidFill>
                <a:latin typeface="Segoe UI"/>
              </a:rPr>
              <a:t>Tuning: the out-of-bag score levels off by 50 trees; SVR prefers a small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50"/>
              </a:spcAft>
            </a:pPr>
            <a:r>
              <a:rPr sz="1000" b="0">
                <a:solidFill>
                  <a:srgbClr val="52514E"/>
                </a:solidFill>
                <a:latin typeface="Segoe UI"/>
              </a:rPr>
              <a:t>8</a:t>
            </a:r>
          </a:p>
        </p:txBody>
      </p:sp>
      <p:pic>
        <p:nvPicPr>
          <p:cNvPr id="5" name="Picture 4" descr="fig4_oob_tre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4754880" cy="2978560"/>
          </a:xfrm>
          <a:prstGeom prst="rect">
            <a:avLst/>
          </a:prstGeom>
        </p:spPr>
      </p:pic>
      <p:pic>
        <p:nvPicPr>
          <p:cNvPr id="6" name="Picture 5" descr="fig5_svr_tu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645920"/>
            <a:ext cx="6492240" cy="22963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120640"/>
            <a:ext cx="110642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25"/>
              </a:spcAft>
            </a:pPr>
            <a:r>
              <a:rPr sz="1500" b="0">
                <a:solidFill>
                  <a:srgbClr val="0B0B0B"/>
                </a:solidFill>
                <a:latin typeface="Segoe UI"/>
              </a:rPr>
              <a:t>•  We keep the smallest forest within 0.01 of the best out-of-bag R² (50 trees; the paper chose 32).</a:t>
            </a:r>
          </a:p>
          <a:p>
            <a:pPr>
              <a:spcAft>
                <a:spcPts val="825"/>
              </a:spcAft>
            </a:pPr>
            <a:r>
              <a:rPr sz="1500" b="0">
                <a:solidFill>
                  <a:srgbClr val="0B0B0B"/>
                </a:solidFill>
                <a:latin typeface="Segoe UI"/>
              </a:rPr>
              <a:t>•  SVR is tuned on casts it never saw, which favours a smooth fit (small C). The paper's very large C (2048) fits a random split better but memorises more.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5"/>
              </a:spcAft>
            </a:pPr>
            <a:r>
              <a:rPr sz="1100" b="1">
                <a:solidFill>
                  <a:srgbClr val="EB6834"/>
                </a:solidFill>
                <a:latin typeface="Segoe UI"/>
              </a:rPr>
              <a:t>RESULT 1: REPLICATION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85"/>
              </a:spcAft>
            </a:pPr>
            <a:r>
              <a:rPr sz="2700" b="1">
                <a:solidFill>
                  <a:srgbClr val="0B0B0B"/>
                </a:solidFill>
                <a:latin typeface="Segoe UI"/>
              </a:rPr>
              <a:t>With the paper's random split we match its result: R² 0.84 and 0.78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50"/>
              </a:spcAft>
            </a:pPr>
            <a:r>
              <a:rPr sz="1000" b="0">
                <a:solidFill>
                  <a:srgbClr val="52514E"/>
                </a:solidFill>
                <a:latin typeface="Segoe UI"/>
              </a:rPr>
              <a:t>9</a:t>
            </a:r>
          </a:p>
        </p:txBody>
      </p:sp>
      <p:pic>
        <p:nvPicPr>
          <p:cNvPr id="5" name="Picture 4" descr="fig6_pred_vs_true_rand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95" y="1554480"/>
            <a:ext cx="5009729" cy="493776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0" y="1737360"/>
          <a:ext cx="50292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1097280"/>
                <a:gridCol w="1097280"/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Random 70/30 split</a:t>
                      </a:r>
                    </a:p>
                  </a:txBody>
                  <a:tcPr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d50</a:t>
                      </a:r>
                    </a:p>
                  </a:txBody>
                  <a:tcPr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σ</a:t>
                      </a:r>
                    </a:p>
                  </a:txBody>
                  <a:tcPr>
                    <a:solidFill>
                      <a:srgbClr val="1C5CA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Segoe UI"/>
                        </a:rPr>
                        <a:t>Paper: Random Forest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Segoe UI"/>
                        </a:rPr>
                        <a:t>0.81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Segoe UI"/>
                        </a:rPr>
                        <a:t>0.75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Segoe UI"/>
                        </a:rPr>
                        <a:t>Ours: Random Forest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Segoe UI"/>
                        </a:rPr>
                        <a:t>0.84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Segoe UI"/>
                        </a:rPr>
                        <a:t>0.78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Segoe UI"/>
                        </a:rPr>
                        <a:t>Paper: SVR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Segoe UI"/>
                        </a:rPr>
                        <a:t>0.76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Segoe UI"/>
                        </a:rPr>
                        <a:t>0.76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Segoe UI"/>
                        </a:rPr>
                        <a:t>Ours: SVR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Segoe UI"/>
                        </a:rPr>
                        <a:t>0.64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B0B0B"/>
                          </a:solidFill>
                          <a:latin typeface="Segoe UI"/>
                        </a:rPr>
                        <a:t>0.64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0" y="4023360"/>
            <a:ext cx="50292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25"/>
              </a:spcAft>
            </a:pPr>
            <a:r>
              <a:rPr sz="1500" b="0">
                <a:solidFill>
                  <a:srgbClr val="0B0B0B"/>
                </a:solidFill>
                <a:latin typeface="Segoe UI"/>
              </a:rPr>
              <a:t>•  Different data and features, same headline accuracy for Random Forest.</a:t>
            </a:r>
          </a:p>
          <a:p>
            <a:pPr>
              <a:spcAft>
                <a:spcPts val="825"/>
              </a:spcAft>
            </a:pPr>
            <a:r>
              <a:rPr sz="1500" b="0">
                <a:solidFill>
                  <a:srgbClr val="0B0B0B"/>
                </a:solidFill>
                <a:latin typeface="Segoe UI"/>
              </a:rPr>
              <a:t>•  Our SVR is lower here because we tuned it for unseen casts, not for this split.</a:t>
            </a:r>
          </a:p>
          <a:p>
            <a:pPr>
              <a:spcAft>
                <a:spcPts val="825"/>
              </a:spcAft>
            </a:pPr>
            <a:r>
              <a:rPr sz="1500" b="0">
                <a:solidFill>
                  <a:srgbClr val="0B0B0B"/>
                </a:solidFill>
                <a:latin typeface="Segoe UI"/>
              </a:rPr>
              <a:t>•  Paper values for σ are for the variance σ².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5"/>
              </a:spcAft>
            </a:pPr>
            <a:r>
              <a:rPr sz="1100" b="1">
                <a:solidFill>
                  <a:srgbClr val="EB6834"/>
                </a:solidFill>
                <a:latin typeface="Segoe UI"/>
              </a:rPr>
              <a:t>RESULT 2: GENERALISATION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85"/>
              </a:spcAft>
            </a:pPr>
            <a:r>
              <a:rPr sz="2700" b="1">
                <a:solidFill>
                  <a:srgbClr val="0B0B0B"/>
                </a:solidFill>
                <a:latin typeface="Segoe UI"/>
              </a:rPr>
              <a:t>On data the model has not seen, accuracy halves, then collapses across 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50"/>
              </a:spcAft>
            </a:pPr>
            <a:r>
              <a:rPr sz="1000" b="0">
                <a:solidFill>
                  <a:srgbClr val="52514E"/>
                </a:solidFill>
                <a:latin typeface="Segoe UI"/>
              </a:rPr>
              <a:t>10</a:t>
            </a:r>
          </a:p>
        </p:txBody>
      </p:sp>
      <p:pic>
        <p:nvPicPr>
          <p:cNvPr id="5" name="Picture 4" descr="fig8_protoco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0"/>
            <a:ext cx="7589520" cy="49389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38160" y="1645920"/>
            <a:ext cx="365760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70"/>
              </a:spcAft>
            </a:pPr>
            <a:r>
              <a:rPr sz="1400" b="1">
                <a:solidFill>
                  <a:srgbClr val="0B0B0B"/>
                </a:solidFill>
                <a:latin typeface="Segoe UI"/>
              </a:rPr>
              <a:t>•  Unseen casts</a:t>
            </a:r>
            <a:r>
              <a:rPr sz="1400" b="0">
                <a:solidFill>
                  <a:srgbClr val="0B0B0B"/>
                </a:solidFill>
                <a:latin typeface="Segoe UI"/>
              </a:rPr>
              <a:t> Random Forest drops from 0.84 to 0.41 for d50 and from 0.78 to 0.54 for σ.</a:t>
            </a:r>
          </a:p>
          <a:p>
            <a:pPr>
              <a:spcAft>
                <a:spcPts val="770"/>
              </a:spcAft>
            </a:pPr>
            <a:r>
              <a:rPr sz="1400" b="1">
                <a:solidFill>
                  <a:srgbClr val="0B0B0B"/>
                </a:solidFill>
                <a:latin typeface="Segoe UI"/>
              </a:rPr>
              <a:t>•  Best honest model</a:t>
            </a:r>
            <a:r>
              <a:rPr sz="1400" b="0">
                <a:solidFill>
                  <a:srgbClr val="0B0B0B"/>
                </a:solidFill>
                <a:latin typeface="Segoe UI"/>
              </a:rPr>
              <a:t> SVR: 0.52 / 0.58 on unseen casts, 0.46 / 0.47 on an unseen day.</a:t>
            </a:r>
          </a:p>
          <a:p>
            <a:pPr>
              <a:spcAft>
                <a:spcPts val="770"/>
              </a:spcAft>
            </a:pPr>
            <a:r>
              <a:rPr sz="1400" b="1">
                <a:solidFill>
                  <a:srgbClr val="0B0B0B"/>
                </a:solidFill>
                <a:latin typeface="Segoe UI"/>
              </a:rPr>
              <a:t>•  Ranking flips</a:t>
            </a:r>
            <a:r>
              <a:rPr sz="1400" b="0">
                <a:solidFill>
                  <a:srgbClr val="0B0B0B"/>
                </a:solidFill>
                <a:latin typeface="Segoe UI"/>
              </a:rPr>
              <a:t> The flexible tree models win the random split; the smoother SVR wins once neighbours are removed.</a:t>
            </a:r>
          </a:p>
          <a:p>
            <a:pPr>
              <a:spcAft>
                <a:spcPts val="770"/>
              </a:spcAft>
            </a:pPr>
            <a:r>
              <a:rPr sz="1400" b="1">
                <a:solidFill>
                  <a:srgbClr val="0B0B0B"/>
                </a:solidFill>
                <a:latin typeface="Segoe UI"/>
              </a:rPr>
              <a:t>•  Unseen site</a:t>
            </a:r>
            <a:r>
              <a:rPr sz="1400" b="0">
                <a:solidFill>
                  <a:srgbClr val="0B0B0B"/>
                </a:solidFill>
                <a:latin typeface="Segoe UI"/>
              </a:rPr>
              <a:t> Every model is worse than predicting the mean. The two sites barely overlap in water depth or particle size.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5"/>
              </a:spcAft>
            </a:pPr>
            <a:r>
              <a:rPr sz="1100" b="1">
                <a:solidFill>
                  <a:srgbClr val="EB6834"/>
                </a:solidFill>
                <a:latin typeface="Segoe UI"/>
              </a:rP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85"/>
              </a:spcAft>
            </a:pPr>
            <a:r>
              <a:rPr sz="2700" b="1">
                <a:solidFill>
                  <a:srgbClr val="0B0B0B"/>
                </a:solidFill>
                <a:latin typeface="Segoe UI"/>
              </a:rPr>
              <a:t>Conclusions: about half the variation is predictable; the split decides the 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50"/>
              </a:spcAft>
            </a:pPr>
            <a:r>
              <a:rPr sz="1000" b="0">
                <a:solidFill>
                  <a:srgbClr val="52514E"/>
                </a:solidFill>
                <a:latin typeface="Segoe U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06424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80"/>
              </a:spcAft>
            </a:pPr>
            <a:r>
              <a:rPr sz="1600" b="1">
                <a:solidFill>
                  <a:srgbClr val="0B0B0B"/>
                </a:solidFill>
                <a:latin typeface="Segoe UI"/>
              </a:rPr>
              <a:t>•  What works</a:t>
            </a:r>
            <a:r>
              <a:rPr sz="1600" b="0">
                <a:solidFill>
                  <a:srgbClr val="0B0B0B"/>
                </a:solidFill>
                <a:latin typeface="Segoe UI"/>
              </a:rPr>
              <a:t> Depth, tide stage, temperature and optical attenuation explain roughly half of the variation in d50 and σ on new casts.</a:t>
            </a:r>
          </a:p>
          <a:p>
            <a:pPr>
              <a:spcAft>
                <a:spcPts val="880"/>
              </a:spcAft>
            </a:pPr>
            <a:r>
              <a:rPr sz="1600" b="1">
                <a:solidFill>
                  <a:srgbClr val="0B0B0B"/>
                </a:solidFill>
                <a:latin typeface="Segoe UI"/>
              </a:rPr>
              <a:t>•  What the paper's score hid</a:t>
            </a:r>
            <a:r>
              <a:rPr sz="1600" b="0">
                <a:solidFill>
                  <a:srgbClr val="0B0B0B"/>
                </a:solidFill>
                <a:latin typeface="Segoe UI"/>
              </a:rPr>
              <a:t> Its R² of 0.75 to 0.81 came from a random split of autocorrelated data. We reproduce it, then show it does not survive grouped testing. Its overfitting concern was justified.</a:t>
            </a:r>
          </a:p>
          <a:p>
            <a:pPr>
              <a:spcAft>
                <a:spcPts val="880"/>
              </a:spcAft>
            </a:pPr>
            <a:r>
              <a:rPr sz="1600" b="1">
                <a:solidFill>
                  <a:srgbClr val="0B0B0B"/>
                </a:solidFill>
                <a:latin typeface="Segoe UI"/>
              </a:rPr>
              <a:t>•  What does not work</a:t>
            </a:r>
            <a:r>
              <a:rPr sz="1600" b="0">
                <a:solidFill>
                  <a:srgbClr val="0B0B0B"/>
                </a:solidFill>
                <a:latin typeface="Segoe UI"/>
              </a:rPr>
              <a:t> Transfer to a different site. A general model needs training data from many sites.</a:t>
            </a:r>
          </a:p>
          <a:p>
            <a:pPr>
              <a:spcAft>
                <a:spcPts val="880"/>
              </a:spcAft>
            </a:pPr>
            <a:r>
              <a:rPr sz="1600" b="1">
                <a:solidFill>
                  <a:srgbClr val="0B0B0B"/>
                </a:solidFill>
                <a:latin typeface="Segoe UI"/>
              </a:rPr>
              <a:t>•  Limitations</a:t>
            </a:r>
            <a:r>
              <a:rPr sz="1600" b="0">
                <a:solidFill>
                  <a:srgbClr val="0B0B0B"/>
                </a:solidFill>
                <a:latin typeface="Segoe UI"/>
              </a:rPr>
              <a:t> Three to keep in mind.</a:t>
            </a:r>
          </a:p>
          <a:p>
            <a:pPr lvl="1">
              <a:spcAft>
                <a:spcPts val="88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•  Four days in one summer and two sites</a:t>
            </a:r>
          </a:p>
          <a:p>
            <a:pPr lvl="1">
              <a:spcAft>
                <a:spcPts val="88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•  No salinity or turbidity: the CTD files could not be downloaded</a:t>
            </a:r>
          </a:p>
          <a:p>
            <a:pPr lvl="1">
              <a:spcAft>
                <a:spcPts val="880"/>
              </a:spcAft>
            </a:pPr>
            <a:r>
              <a:rPr sz="1400" b="0">
                <a:solidFill>
                  <a:srgbClr val="52514E"/>
                </a:solidFill>
                <a:latin typeface="Segoe UI"/>
              </a:rPr>
              <a:t>•  Beam attenuation comes from the same instrument as the targets</a:t>
            </a:r>
          </a:p>
          <a:p>
            <a:pPr>
              <a:spcAft>
                <a:spcPts val="880"/>
              </a:spcAft>
            </a:pPr>
            <a:r>
              <a:rPr sz="1600" b="1">
                <a:solidFill>
                  <a:srgbClr val="0B0B0B"/>
                </a:solidFill>
                <a:latin typeface="Segoe UI"/>
              </a:rPr>
              <a:t>•  Next steps</a:t>
            </a:r>
            <a:r>
              <a:rPr sz="1600" b="0">
                <a:solidFill>
                  <a:srgbClr val="0B0B0B"/>
                </a:solidFill>
                <a:latin typeface="Segoe UI"/>
              </a:rPr>
              <a:t> Add the CTD and hydrodynamic data from the parent USGS release; train across more sites and seasons.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5"/>
              </a:spcAft>
            </a:pPr>
            <a:r>
              <a:rPr sz="1100" b="1">
                <a:solidFill>
                  <a:srgbClr val="EB6834"/>
                </a:solidFill>
                <a:latin typeface="Segoe UI"/>
              </a:rP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85"/>
              </a:spcAft>
            </a:pPr>
            <a:r>
              <a:rPr sz="2700" b="1">
                <a:solidFill>
                  <a:srgbClr val="0B0B0B"/>
                </a:solidFill>
                <a:latin typeface="Segoe UI"/>
              </a:rPr>
              <a:t>Live demo and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50"/>
              </a:spcAft>
            </a:pPr>
            <a:r>
              <a:rPr sz="1000" b="0">
                <a:solidFill>
                  <a:srgbClr val="52514E"/>
                </a:solidFill>
                <a:latin typeface="Segoe U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676656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935"/>
              </a:spcAft>
            </a:pPr>
            <a:r>
              <a:rPr sz="1700" b="1">
                <a:solidFill>
                  <a:srgbClr val="0B0B0B"/>
                </a:solidFill>
                <a:latin typeface="Segoe UI"/>
              </a:rPr>
              <a:t>•  Rebuild everything from the raw files</a:t>
            </a:r>
          </a:p>
          <a:p>
            <a:pPr lvl="1">
              <a:spcAft>
                <a:spcPts val="935"/>
              </a:spcAft>
            </a:pPr>
            <a:r>
              <a:rPr sz="1500" b="1">
                <a:solidFill>
                  <a:srgbClr val="52514E"/>
                </a:solidFill>
                <a:latin typeface="Segoe UI"/>
              </a:rPr>
              <a:t>•  python src/build_dataset.py</a:t>
            </a:r>
          </a:p>
          <a:p>
            <a:pPr lvl="1">
              <a:spcAft>
                <a:spcPts val="935"/>
              </a:spcAft>
            </a:pPr>
            <a:r>
              <a:rPr sz="1500" b="1">
                <a:solidFill>
                  <a:srgbClr val="52514E"/>
                </a:solidFill>
                <a:latin typeface="Segoe UI"/>
              </a:rPr>
              <a:t>•  python src/train_evaluate.py</a:t>
            </a:r>
          </a:p>
          <a:p>
            <a:pPr>
              <a:spcAft>
                <a:spcPts val="935"/>
              </a:spcAft>
            </a:pPr>
            <a:r>
              <a:rPr sz="1700" b="1">
                <a:solidFill>
                  <a:srgbClr val="0B0B0B"/>
                </a:solidFill>
                <a:latin typeface="Segoe UI"/>
              </a:rPr>
              <a:t>•  Hold out one cast, retrain, compare predicted and measured</a:t>
            </a:r>
          </a:p>
          <a:p>
            <a:pPr lvl="1">
              <a:spcAft>
                <a:spcPts val="935"/>
              </a:spcAft>
            </a:pPr>
            <a:r>
              <a:rPr sz="1500" b="1">
                <a:solidFill>
                  <a:srgbClr val="52514E"/>
                </a:solidFill>
                <a:latin typeface="Segoe UI"/>
              </a:rPr>
              <a:t>•  python demo.py</a:t>
            </a:r>
          </a:p>
          <a:p>
            <a:pPr lvl="1">
              <a:spcAft>
                <a:spcPts val="935"/>
              </a:spcAft>
            </a:pPr>
            <a:r>
              <a:rPr sz="1500" b="1">
                <a:solidFill>
                  <a:srgbClr val="52514E"/>
                </a:solidFill>
                <a:latin typeface="Segoe UI"/>
              </a:rPr>
              <a:t>•  python demo.py --cast C21</a:t>
            </a:r>
          </a:p>
          <a:p>
            <a:pPr>
              <a:spcAft>
                <a:spcPts val="935"/>
              </a:spcAft>
            </a:pPr>
            <a:r>
              <a:rPr sz="1700" b="1">
                <a:solidFill>
                  <a:srgbClr val="0B0B0B"/>
                </a:solidFill>
                <a:latin typeface="Segoe UI"/>
              </a:rPr>
              <a:t>•  Predict for conditions we type in</a:t>
            </a:r>
          </a:p>
          <a:p>
            <a:pPr lvl="1">
              <a:spcAft>
                <a:spcPts val="935"/>
              </a:spcAft>
            </a:pPr>
            <a:r>
              <a:rPr sz="1500" b="1">
                <a:solidFill>
                  <a:srgbClr val="52514E"/>
                </a:solidFill>
                <a:latin typeface="Segoe UI"/>
              </a:rPr>
              <a:t>•  python demo.py --predict --depth 6 --water-depth 12.5 --temp 21.5 --attn 20 --site channel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589520" y="1737360"/>
          <a:ext cx="41148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011680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File</a:t>
                      </a:r>
                    </a:p>
                  </a:txBody>
                  <a:tcPr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Role</a:t>
                      </a:r>
                    </a:p>
                  </a:txBody>
                  <a:tcPr>
                    <a:solidFill>
                      <a:srgbClr val="1C5CA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src/build_dataset.py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NetCDF → clean table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src/psd.py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d50 and σ from a spectrum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src/train_evaluate.py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Models, tuning, protocols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src/plots.py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Figures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demo.py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Live demo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report/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B0B0B"/>
                          </a:solidFill>
                          <a:latin typeface="Segoe UI"/>
                        </a:rPr>
                        <a:t>Write-up and slides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